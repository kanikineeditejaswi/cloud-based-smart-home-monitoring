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380" y="918717"/>
            <a:ext cx="502793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540" y="1691639"/>
            <a:ext cx="10957560" cy="4772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822683" y="6541719"/>
            <a:ext cx="207009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A0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1700" y="729741"/>
            <a:ext cx="3236595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87316"/>
                </a:solidFill>
              </a:rPr>
              <a:t>A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 spc="-20">
                <a:solidFill>
                  <a:srgbClr val="F87316"/>
                </a:solidFill>
              </a:rPr>
              <a:t>W</a:t>
            </a:r>
            <a:r>
              <a:rPr dirty="0" sz="1500" spc="-140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S</a:t>
            </a:r>
            <a:r>
              <a:rPr dirty="0" sz="1500" spc="390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C</a:t>
            </a:r>
            <a:r>
              <a:rPr dirty="0" sz="1500" spc="-140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L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O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U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D</a:t>
            </a:r>
            <a:r>
              <a:rPr dirty="0" sz="1500" spc="360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&amp;</a:t>
            </a:r>
            <a:r>
              <a:rPr dirty="0" sz="1500" spc="395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D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E</a:t>
            </a:r>
            <a:r>
              <a:rPr dirty="0" sz="1500" spc="-140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V</a:t>
            </a:r>
            <a:r>
              <a:rPr dirty="0" sz="1500" spc="-140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O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P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S</a:t>
            </a:r>
            <a:r>
              <a:rPr dirty="0" sz="1500" spc="370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P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R</a:t>
            </a:r>
            <a:r>
              <a:rPr dirty="0" sz="1500" spc="-145">
                <a:solidFill>
                  <a:srgbClr val="F87316"/>
                </a:solidFill>
              </a:rPr>
              <a:t> </a:t>
            </a:r>
            <a:r>
              <a:rPr dirty="0" sz="1500">
                <a:solidFill>
                  <a:srgbClr val="F87316"/>
                </a:solidFill>
              </a:rPr>
              <a:t>O</a:t>
            </a:r>
            <a:r>
              <a:rPr dirty="0" sz="1500" spc="-135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J</a:t>
            </a:r>
            <a:r>
              <a:rPr dirty="0" sz="1500" spc="-145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E</a:t>
            </a:r>
            <a:r>
              <a:rPr dirty="0" sz="1500" spc="-140">
                <a:solidFill>
                  <a:srgbClr val="F87316"/>
                </a:solidFill>
              </a:rPr>
              <a:t> </a:t>
            </a:r>
            <a:r>
              <a:rPr dirty="0" sz="1500" spc="-10">
                <a:solidFill>
                  <a:srgbClr val="F87316"/>
                </a:solidFill>
              </a:rPr>
              <a:t>C</a:t>
            </a:r>
            <a:r>
              <a:rPr dirty="0" sz="1500" spc="-140">
                <a:solidFill>
                  <a:srgbClr val="F87316"/>
                </a:solidFill>
              </a:rPr>
              <a:t> </a:t>
            </a:r>
            <a:r>
              <a:rPr dirty="0" sz="1500" spc="-50">
                <a:solidFill>
                  <a:srgbClr val="F87316"/>
                </a:solidFill>
              </a:rPr>
              <a:t>T</a:t>
            </a:r>
            <a:endParaRPr sz="1500"/>
          </a:p>
        </p:txBody>
      </p:sp>
      <p:sp>
        <p:nvSpPr>
          <p:cNvPr id="4" name="object 4"/>
          <p:cNvSpPr txBox="1"/>
          <p:nvPr/>
        </p:nvSpPr>
        <p:spPr>
          <a:xfrm>
            <a:off x="901700" y="1265936"/>
            <a:ext cx="7475220" cy="2056764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405"/>
              </a:spcBef>
            </a:pPr>
            <a:r>
              <a:rPr dirty="0" sz="4000" spc="-25" b="1">
                <a:solidFill>
                  <a:srgbClr val="FFFFFF"/>
                </a:solidFill>
                <a:latin typeface="Calibri"/>
                <a:cs typeface="Calibri"/>
              </a:rPr>
              <a:t>Cloud-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40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dirty="0" sz="40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20" b="1">
                <a:solidFill>
                  <a:srgbClr val="FFFFFF"/>
                </a:solidFill>
                <a:latin typeface="Calibri"/>
                <a:cs typeface="Calibri"/>
              </a:rPr>
              <a:t>Home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Monitoring</a:t>
            </a:r>
            <a:r>
              <a:rPr dirty="0" sz="4000" spc="-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40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r>
              <a:rPr dirty="0" sz="40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endParaRPr sz="4000">
              <a:latin typeface="Calibri"/>
              <a:cs typeface="Calibri"/>
            </a:endParaRPr>
          </a:p>
          <a:p>
            <a:pPr marL="12700" marR="129539">
              <a:lnSpc>
                <a:spcPct val="116700"/>
              </a:lnSpc>
              <a:spcBef>
                <a:spcPts val="2265"/>
              </a:spcBef>
            </a:pP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serverless, </a:t>
            </a:r>
            <a:r>
              <a:rPr dirty="0" sz="1500" spc="-10">
                <a:solidFill>
                  <a:srgbClr val="DDD5FD"/>
                </a:solidFill>
                <a:latin typeface="Calibri"/>
                <a:cs typeface="Calibri"/>
              </a:rPr>
              <a:t>cloud-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native</a:t>
            </a:r>
            <a:r>
              <a:rPr dirty="0" sz="150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DDD5FD"/>
                </a:solidFill>
                <a:latin typeface="Calibri"/>
                <a:cs typeface="Calibri"/>
              </a:rPr>
              <a:t>platform</a:t>
            </a:r>
            <a:r>
              <a:rPr dirty="0" sz="150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for</a:t>
            </a:r>
            <a:r>
              <a:rPr dirty="0" sz="150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DDD5FD"/>
                </a:solidFill>
                <a:latin typeface="Calibri"/>
                <a:cs typeface="Calibri"/>
              </a:rPr>
              <a:t>real-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time</a:t>
            </a:r>
            <a:r>
              <a:rPr dirty="0" sz="1500" spc="-1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monitoring</a:t>
            </a:r>
            <a:r>
              <a:rPr dirty="0" sz="1500" spc="-5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and</a:t>
            </a:r>
            <a:r>
              <a:rPr dirty="0" sz="150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remote</a:t>
            </a:r>
            <a:r>
              <a:rPr dirty="0" sz="1500" spc="-3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DDD5FD"/>
                </a:solidFill>
                <a:latin typeface="Calibri"/>
                <a:cs typeface="Calibri"/>
              </a:rPr>
              <a:t>control</a:t>
            </a:r>
            <a:r>
              <a:rPr dirty="0" sz="150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of</a:t>
            </a:r>
            <a:r>
              <a:rPr dirty="0" sz="1500" spc="-2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smart</a:t>
            </a:r>
            <a:r>
              <a:rPr dirty="0" sz="150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DDD5FD"/>
                </a:solidFill>
                <a:latin typeface="Calibri"/>
                <a:cs typeface="Calibri"/>
              </a:rPr>
              <a:t>home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devices</a:t>
            </a:r>
            <a:r>
              <a:rPr dirty="0" sz="1500" spc="-2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—</a:t>
            </a:r>
            <a:r>
              <a:rPr dirty="0" sz="150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built</a:t>
            </a:r>
            <a:r>
              <a:rPr dirty="0" sz="150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entirely</a:t>
            </a:r>
            <a:r>
              <a:rPr dirty="0" sz="150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on</a:t>
            </a:r>
            <a:r>
              <a:rPr dirty="0" sz="1500" spc="-5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DDD5FD"/>
                </a:solidFill>
                <a:latin typeface="Calibri"/>
                <a:cs typeface="Calibri"/>
              </a:rPr>
              <a:t>AWS</a:t>
            </a:r>
            <a:r>
              <a:rPr dirty="0" sz="150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DDD5FD"/>
                </a:solidFill>
                <a:latin typeface="Calibri"/>
                <a:cs typeface="Calibri"/>
              </a:rPr>
              <a:t>managed</a:t>
            </a:r>
            <a:r>
              <a:rPr dirty="0" sz="1500" spc="-6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DDD5FD"/>
                </a:solidFill>
                <a:latin typeface="Calibri"/>
                <a:cs typeface="Calibri"/>
              </a:rPr>
              <a:t>services.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2960" y="3611879"/>
            <a:ext cx="411480" cy="384175"/>
          </a:xfrm>
          <a:custGeom>
            <a:avLst/>
            <a:gdLst/>
            <a:ahLst/>
            <a:cxnLst/>
            <a:rect l="l" t="t" r="r" b="b"/>
            <a:pathLst>
              <a:path w="411480" h="384175">
                <a:moveTo>
                  <a:pt x="219456" y="0"/>
                </a:moveTo>
                <a:lnTo>
                  <a:pt x="192024" y="0"/>
                </a:ln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4" y="384048"/>
                </a:lnTo>
                <a:lnTo>
                  <a:pt x="219456" y="384048"/>
                </a:lnTo>
                <a:lnTo>
                  <a:pt x="263487" y="378976"/>
                </a:lnTo>
                <a:lnTo>
                  <a:pt x="303905" y="364529"/>
                </a:lnTo>
                <a:lnTo>
                  <a:pt x="339559" y="341860"/>
                </a:lnTo>
                <a:lnTo>
                  <a:pt x="369296" y="312122"/>
                </a:lnTo>
                <a:lnTo>
                  <a:pt x="391963" y="276468"/>
                </a:lnTo>
                <a:lnTo>
                  <a:pt x="406408" y="236051"/>
                </a:lnTo>
                <a:lnTo>
                  <a:pt x="411480" y="192024"/>
                </a:lnTo>
                <a:lnTo>
                  <a:pt x="406408" y="147996"/>
                </a:lnTo>
                <a:lnTo>
                  <a:pt x="391963" y="107579"/>
                </a:lnTo>
                <a:lnTo>
                  <a:pt x="369296" y="71925"/>
                </a:lnTo>
                <a:lnTo>
                  <a:pt x="339559" y="42187"/>
                </a:lnTo>
                <a:lnTo>
                  <a:pt x="303905" y="19518"/>
                </a:lnTo>
                <a:lnTo>
                  <a:pt x="263487" y="5071"/>
                </a:lnTo>
                <a:lnTo>
                  <a:pt x="219456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44372" y="3695191"/>
            <a:ext cx="16764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 b="1">
                <a:solidFill>
                  <a:srgbClr val="FFFFFF"/>
                </a:solidFill>
                <a:latin typeface="Calibri"/>
                <a:cs typeface="Calibri"/>
              </a:rPr>
              <a:t>S3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80744" y="3611879"/>
            <a:ext cx="988060" cy="384175"/>
          </a:xfrm>
          <a:custGeom>
            <a:avLst/>
            <a:gdLst/>
            <a:ahLst/>
            <a:cxnLst/>
            <a:rect l="l" t="t" r="r" b="b"/>
            <a:pathLst>
              <a:path w="988060" h="384175">
                <a:moveTo>
                  <a:pt x="795528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795528" y="384048"/>
                </a:lnTo>
                <a:lnTo>
                  <a:pt x="839555" y="378976"/>
                </a:lnTo>
                <a:lnTo>
                  <a:pt x="879972" y="364529"/>
                </a:lnTo>
                <a:lnTo>
                  <a:pt x="915626" y="341860"/>
                </a:lnTo>
                <a:lnTo>
                  <a:pt x="945364" y="312122"/>
                </a:lnTo>
                <a:lnTo>
                  <a:pt x="968033" y="276468"/>
                </a:lnTo>
                <a:lnTo>
                  <a:pt x="982480" y="236051"/>
                </a:lnTo>
                <a:lnTo>
                  <a:pt x="987551" y="192024"/>
                </a:lnTo>
                <a:lnTo>
                  <a:pt x="982480" y="147996"/>
                </a:lnTo>
                <a:lnTo>
                  <a:pt x="968033" y="107579"/>
                </a:lnTo>
                <a:lnTo>
                  <a:pt x="945364" y="71925"/>
                </a:lnTo>
                <a:lnTo>
                  <a:pt x="915626" y="42187"/>
                </a:lnTo>
                <a:lnTo>
                  <a:pt x="879972" y="19518"/>
                </a:lnTo>
                <a:lnTo>
                  <a:pt x="839555" y="5071"/>
                </a:lnTo>
                <a:lnTo>
                  <a:pt x="795528" y="0"/>
                </a:lnTo>
                <a:close/>
              </a:path>
            </a:pathLst>
          </a:custGeom>
          <a:solidFill>
            <a:srgbClr val="F87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18285" y="3695191"/>
            <a:ext cx="7105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DynamoDB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14600" y="3611879"/>
            <a:ext cx="1275715" cy="384175"/>
          </a:xfrm>
          <a:custGeom>
            <a:avLst/>
            <a:gdLst/>
            <a:ahLst/>
            <a:cxnLst/>
            <a:rect l="l" t="t" r="r" b="b"/>
            <a:pathLst>
              <a:path w="1275714" h="384175">
                <a:moveTo>
                  <a:pt x="1083564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1083564" y="384048"/>
                </a:lnTo>
                <a:lnTo>
                  <a:pt x="1127591" y="378976"/>
                </a:lnTo>
                <a:lnTo>
                  <a:pt x="1168008" y="364529"/>
                </a:lnTo>
                <a:lnTo>
                  <a:pt x="1203662" y="341860"/>
                </a:lnTo>
                <a:lnTo>
                  <a:pt x="1233400" y="312122"/>
                </a:lnTo>
                <a:lnTo>
                  <a:pt x="1256069" y="276468"/>
                </a:lnTo>
                <a:lnTo>
                  <a:pt x="1270516" y="236051"/>
                </a:lnTo>
                <a:lnTo>
                  <a:pt x="1275588" y="192024"/>
                </a:lnTo>
                <a:lnTo>
                  <a:pt x="1270516" y="147996"/>
                </a:lnTo>
                <a:lnTo>
                  <a:pt x="1256069" y="107579"/>
                </a:lnTo>
                <a:lnTo>
                  <a:pt x="1233400" y="71925"/>
                </a:lnTo>
                <a:lnTo>
                  <a:pt x="1203662" y="42187"/>
                </a:lnTo>
                <a:lnTo>
                  <a:pt x="1168008" y="19518"/>
                </a:lnTo>
                <a:lnTo>
                  <a:pt x="1127591" y="5071"/>
                </a:lnTo>
                <a:lnTo>
                  <a:pt x="1083564" y="0"/>
                </a:lnTo>
                <a:close/>
              </a:path>
            </a:pathLst>
          </a:custGeom>
          <a:solidFill>
            <a:srgbClr val="05B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50947" y="3695191"/>
            <a:ext cx="8039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dirty="0" sz="11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Gateway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36491" y="3611879"/>
            <a:ext cx="795655" cy="384175"/>
          </a:xfrm>
          <a:custGeom>
            <a:avLst/>
            <a:gdLst/>
            <a:ahLst/>
            <a:cxnLst/>
            <a:rect l="l" t="t" r="r" b="b"/>
            <a:pathLst>
              <a:path w="795654" h="384175">
                <a:moveTo>
                  <a:pt x="603504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603504" y="384048"/>
                </a:lnTo>
                <a:lnTo>
                  <a:pt x="647531" y="378976"/>
                </a:lnTo>
                <a:lnTo>
                  <a:pt x="687948" y="364529"/>
                </a:lnTo>
                <a:lnTo>
                  <a:pt x="723602" y="341860"/>
                </a:lnTo>
                <a:lnTo>
                  <a:pt x="753340" y="312122"/>
                </a:lnTo>
                <a:lnTo>
                  <a:pt x="776009" y="276468"/>
                </a:lnTo>
                <a:lnTo>
                  <a:pt x="790456" y="236051"/>
                </a:lnTo>
                <a:lnTo>
                  <a:pt x="795528" y="192024"/>
                </a:lnTo>
                <a:lnTo>
                  <a:pt x="790456" y="147996"/>
                </a:lnTo>
                <a:lnTo>
                  <a:pt x="776009" y="107579"/>
                </a:lnTo>
                <a:lnTo>
                  <a:pt x="753340" y="71925"/>
                </a:lnTo>
                <a:lnTo>
                  <a:pt x="723602" y="42187"/>
                </a:lnTo>
                <a:lnTo>
                  <a:pt x="687948" y="19518"/>
                </a:lnTo>
                <a:lnTo>
                  <a:pt x="647531" y="5071"/>
                </a:lnTo>
                <a:lnTo>
                  <a:pt x="603504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80509" y="3695191"/>
            <a:ext cx="5092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Lambda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78323" y="3611879"/>
            <a:ext cx="1179830" cy="384175"/>
          </a:xfrm>
          <a:custGeom>
            <a:avLst/>
            <a:gdLst/>
            <a:ahLst/>
            <a:cxnLst/>
            <a:rect l="l" t="t" r="r" b="b"/>
            <a:pathLst>
              <a:path w="1179829" h="384175">
                <a:moveTo>
                  <a:pt x="987551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987551" y="384048"/>
                </a:lnTo>
                <a:lnTo>
                  <a:pt x="1031579" y="378976"/>
                </a:lnTo>
                <a:lnTo>
                  <a:pt x="1071996" y="364529"/>
                </a:lnTo>
                <a:lnTo>
                  <a:pt x="1107650" y="341860"/>
                </a:lnTo>
                <a:lnTo>
                  <a:pt x="1137388" y="312122"/>
                </a:lnTo>
                <a:lnTo>
                  <a:pt x="1160057" y="276468"/>
                </a:lnTo>
                <a:lnTo>
                  <a:pt x="1174504" y="236051"/>
                </a:lnTo>
                <a:lnTo>
                  <a:pt x="1179576" y="192024"/>
                </a:lnTo>
                <a:lnTo>
                  <a:pt x="1174504" y="147996"/>
                </a:lnTo>
                <a:lnTo>
                  <a:pt x="1160057" y="107579"/>
                </a:lnTo>
                <a:lnTo>
                  <a:pt x="1137388" y="71925"/>
                </a:lnTo>
                <a:lnTo>
                  <a:pt x="1107650" y="42187"/>
                </a:lnTo>
                <a:lnTo>
                  <a:pt x="1071996" y="19518"/>
                </a:lnTo>
                <a:lnTo>
                  <a:pt x="1031579" y="5071"/>
                </a:lnTo>
                <a:lnTo>
                  <a:pt x="987551" y="0"/>
                </a:lnTo>
                <a:close/>
              </a:path>
            </a:pathLst>
          </a:custGeom>
          <a:solidFill>
            <a:srgbClr val="F87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83302" y="3695191"/>
            <a:ext cx="7715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CloudWatch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04203" y="3611879"/>
            <a:ext cx="508000" cy="384175"/>
          </a:xfrm>
          <a:custGeom>
            <a:avLst/>
            <a:gdLst/>
            <a:ahLst/>
            <a:cxnLst/>
            <a:rect l="l" t="t" r="r" b="b"/>
            <a:pathLst>
              <a:path w="508000" h="384175">
                <a:moveTo>
                  <a:pt x="315468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315468" y="384048"/>
                </a:lnTo>
                <a:lnTo>
                  <a:pt x="359495" y="378976"/>
                </a:lnTo>
                <a:lnTo>
                  <a:pt x="399912" y="364529"/>
                </a:lnTo>
                <a:lnTo>
                  <a:pt x="435566" y="341860"/>
                </a:lnTo>
                <a:lnTo>
                  <a:pt x="465304" y="312122"/>
                </a:lnTo>
                <a:lnTo>
                  <a:pt x="487973" y="276468"/>
                </a:lnTo>
                <a:lnTo>
                  <a:pt x="502420" y="236051"/>
                </a:lnTo>
                <a:lnTo>
                  <a:pt x="507492" y="192024"/>
                </a:lnTo>
                <a:lnTo>
                  <a:pt x="502420" y="147996"/>
                </a:lnTo>
                <a:lnTo>
                  <a:pt x="487973" y="107579"/>
                </a:lnTo>
                <a:lnTo>
                  <a:pt x="465304" y="71925"/>
                </a:lnTo>
                <a:lnTo>
                  <a:pt x="435566" y="42187"/>
                </a:lnTo>
                <a:lnTo>
                  <a:pt x="399912" y="19518"/>
                </a:lnTo>
                <a:lnTo>
                  <a:pt x="359495" y="5071"/>
                </a:lnTo>
                <a:lnTo>
                  <a:pt x="315468" y="0"/>
                </a:lnTo>
                <a:close/>
              </a:path>
            </a:pathLst>
          </a:custGeom>
          <a:solidFill>
            <a:srgbClr val="05B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317741" y="3695191"/>
            <a:ext cx="28194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 b="1">
                <a:solidFill>
                  <a:srgbClr val="FFFFFF"/>
                </a:solidFill>
                <a:latin typeface="Calibri"/>
                <a:cs typeface="Calibri"/>
              </a:rPr>
              <a:t>IAM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58000" y="3611879"/>
            <a:ext cx="1564005" cy="384175"/>
          </a:xfrm>
          <a:custGeom>
            <a:avLst/>
            <a:gdLst/>
            <a:ahLst/>
            <a:cxnLst/>
            <a:rect l="l" t="t" r="r" b="b"/>
            <a:pathLst>
              <a:path w="1564004" h="384175">
                <a:moveTo>
                  <a:pt x="1371600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1371600" y="384048"/>
                </a:lnTo>
                <a:lnTo>
                  <a:pt x="1415627" y="378976"/>
                </a:lnTo>
                <a:lnTo>
                  <a:pt x="1456044" y="364529"/>
                </a:lnTo>
                <a:lnTo>
                  <a:pt x="1491698" y="341860"/>
                </a:lnTo>
                <a:lnTo>
                  <a:pt x="1521436" y="312122"/>
                </a:lnTo>
                <a:lnTo>
                  <a:pt x="1544105" y="276468"/>
                </a:lnTo>
                <a:lnTo>
                  <a:pt x="1558552" y="236051"/>
                </a:lnTo>
                <a:lnTo>
                  <a:pt x="1563624" y="192024"/>
                </a:lnTo>
                <a:lnTo>
                  <a:pt x="1558552" y="147996"/>
                </a:lnTo>
                <a:lnTo>
                  <a:pt x="1544105" y="107579"/>
                </a:lnTo>
                <a:lnTo>
                  <a:pt x="1521436" y="71925"/>
                </a:lnTo>
                <a:lnTo>
                  <a:pt x="1491698" y="42187"/>
                </a:lnTo>
                <a:lnTo>
                  <a:pt x="1456044" y="19518"/>
                </a:lnTo>
                <a:lnTo>
                  <a:pt x="1415627" y="5071"/>
                </a:lnTo>
                <a:lnTo>
                  <a:pt x="1371600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169911" y="3695191"/>
            <a:ext cx="9398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GitHub</a:t>
            </a:r>
            <a:r>
              <a:rPr dirty="0" sz="11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Actions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1700" y="4733925"/>
            <a:ext cx="1189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87316"/>
                </a:solidFill>
                <a:latin typeface="Calibri"/>
                <a:cs typeface="Calibri"/>
              </a:rPr>
              <a:t>S</a:t>
            </a:r>
            <a:r>
              <a:rPr dirty="0" sz="12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87316"/>
                </a:solidFill>
                <a:latin typeface="Calibri"/>
                <a:cs typeface="Calibri"/>
              </a:rPr>
              <a:t>U</a:t>
            </a:r>
            <a:r>
              <a:rPr dirty="0" sz="12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87316"/>
                </a:solidFill>
                <a:latin typeface="Calibri"/>
                <a:cs typeface="Calibri"/>
              </a:rPr>
              <a:t>B</a:t>
            </a:r>
            <a:r>
              <a:rPr dirty="0" sz="12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87316"/>
                </a:solidFill>
                <a:latin typeface="Calibri"/>
                <a:cs typeface="Calibri"/>
              </a:rPr>
              <a:t>M</a:t>
            </a:r>
            <a:r>
              <a:rPr dirty="0" sz="1200" spc="-125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87316"/>
                </a:solidFill>
                <a:latin typeface="Calibri"/>
                <a:cs typeface="Calibri"/>
              </a:rPr>
              <a:t>I</a:t>
            </a:r>
            <a:r>
              <a:rPr dirty="0" sz="12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87316"/>
                </a:solidFill>
                <a:latin typeface="Calibri"/>
                <a:cs typeface="Calibri"/>
              </a:rPr>
              <a:t>T</a:t>
            </a:r>
            <a:r>
              <a:rPr dirty="0" sz="12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87316"/>
                </a:solidFill>
                <a:latin typeface="Calibri"/>
                <a:cs typeface="Calibri"/>
              </a:rPr>
              <a:t>T</a:t>
            </a:r>
            <a:r>
              <a:rPr dirty="0" sz="12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87316"/>
                </a:solidFill>
                <a:latin typeface="Calibri"/>
                <a:cs typeface="Calibri"/>
              </a:rPr>
              <a:t>D</a:t>
            </a:r>
            <a:r>
              <a:rPr dirty="0" sz="1200" spc="285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87316"/>
                </a:solidFill>
                <a:latin typeface="Calibri"/>
                <a:cs typeface="Calibri"/>
              </a:rPr>
              <a:t>B</a:t>
            </a:r>
            <a:r>
              <a:rPr dirty="0" sz="12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F87316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1700" y="5248402"/>
            <a:ext cx="142938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Kesanapalli</a:t>
            </a:r>
            <a:r>
              <a:rPr dirty="0" sz="13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Poojitha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32594" y="5248402"/>
            <a:ext cx="231457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Kondreddy</a:t>
            </a:r>
            <a:r>
              <a:rPr dirty="0" sz="13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Nikhitha</a:t>
            </a:r>
            <a:r>
              <a:rPr dirty="0" sz="13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Dhanamjaya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50379" y="5248402"/>
            <a:ext cx="161036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Kodakatla</a:t>
            </a:r>
            <a:r>
              <a:rPr dirty="0" sz="13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Chomeswari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64509" y="5248402"/>
            <a:ext cx="132397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Donthamsetti</a:t>
            </a:r>
            <a:r>
              <a:rPr dirty="0" sz="13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Calibri"/>
                <a:cs typeface="Calibri"/>
              </a:rPr>
              <a:t>Devi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90663" y="5248402"/>
            <a:ext cx="13830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Kanikineedi</a:t>
            </a:r>
            <a:r>
              <a:rPr dirty="0" sz="13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Tejaswi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1700" y="6311595"/>
            <a:ext cx="4735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Group</a:t>
            </a:r>
            <a:r>
              <a:rPr dirty="0" sz="1200" spc="-3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Project</a:t>
            </a:r>
            <a:r>
              <a:rPr dirty="0" sz="1200" spc="254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•</a:t>
            </a:r>
            <a:r>
              <a:rPr dirty="0" sz="1200" spc="25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Summer</a:t>
            </a:r>
            <a:r>
              <a:rPr dirty="0" sz="1200" spc="-25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4B5FC"/>
                </a:solidFill>
                <a:latin typeface="Calibri"/>
                <a:cs typeface="Calibri"/>
              </a:rPr>
              <a:t>Internship</a:t>
            </a:r>
            <a:r>
              <a:rPr dirty="0" sz="1200" spc="-5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Program</a:t>
            </a:r>
            <a:r>
              <a:rPr dirty="0" sz="1200" spc="-2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on</a:t>
            </a:r>
            <a:r>
              <a:rPr dirty="0" sz="1200" spc="-5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AWS</a:t>
            </a:r>
            <a:r>
              <a:rPr dirty="0" sz="1200" spc="24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•</a:t>
            </a:r>
            <a:r>
              <a:rPr dirty="0" sz="1200" spc="254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APSSDC</a:t>
            </a:r>
            <a:r>
              <a:rPr dirty="0" sz="1200" spc="235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•</a:t>
            </a:r>
            <a:r>
              <a:rPr dirty="0" sz="1200" spc="25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4B5FC"/>
                </a:solidFill>
                <a:latin typeface="Calibri"/>
                <a:cs typeface="Calibri"/>
              </a:rPr>
              <a:t>Batch</a:t>
            </a:r>
            <a:r>
              <a:rPr dirty="0" sz="1200" spc="-2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C4B5FC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54482"/>
            <a:ext cx="9753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B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R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dirty="0" sz="1400" spc="-125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dirty="0" sz="1400" spc="-125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55"/>
              <a:t> </a:t>
            </a:r>
            <a:r>
              <a:rPr dirty="0" spc="-1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7380" y="1593394"/>
            <a:ext cx="628015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5"/>
              </a:spcBef>
            </a:pP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Cloud-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Based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Smart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Home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Monitoring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&amp;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Automation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Platform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lets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users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monitor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control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home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appliances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remotely,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using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Amazon</a:t>
            </a:r>
            <a:r>
              <a:rPr dirty="0" sz="140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Web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Services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(AWS)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DevOps practices.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380" y="2812516"/>
            <a:ext cx="6318885" cy="940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5"/>
              </a:spcBef>
            </a:pP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status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live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sensor</a:t>
            </a:r>
            <a:r>
              <a:rPr dirty="0" sz="14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readings</a:t>
            </a:r>
            <a:r>
              <a:rPr dirty="0" sz="14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4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lights,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fans,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doors,</a:t>
            </a:r>
            <a:r>
              <a:rPr dirty="0" sz="14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</a:t>
            </a:r>
            <a:r>
              <a:rPr dirty="0" sz="14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air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conditioner, temperature,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humidity,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gas,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motion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are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shown</a:t>
            </a:r>
            <a:r>
              <a:rPr dirty="0" sz="14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through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web-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based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dashboard,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backed</a:t>
            </a:r>
            <a:r>
              <a:rPr dirty="0" sz="140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entirely</a:t>
            </a:r>
            <a:r>
              <a:rPr dirty="0" sz="14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by</a:t>
            </a:r>
            <a:r>
              <a:rPr dirty="0" sz="1400" spc="-6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managed</a:t>
            </a:r>
            <a:r>
              <a:rPr dirty="0" sz="140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AWS</a:t>
            </a:r>
            <a:r>
              <a:rPr dirty="0" sz="1400" spc="-6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services.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380" y="4031970"/>
            <a:ext cx="6262370" cy="1245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5"/>
              </a:spcBef>
            </a:pP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data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is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stored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Amazon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DynamoDB,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dashboard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is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hosted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as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static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site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on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Amazon</a:t>
            </a:r>
            <a:r>
              <a:rPr dirty="0" sz="14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S3,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Amazon</a:t>
            </a:r>
            <a:r>
              <a:rPr dirty="0" sz="14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Gateway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exposes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secure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REST</a:t>
            </a:r>
            <a:r>
              <a:rPr dirty="0" sz="14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endpoints,</a:t>
            </a:r>
            <a:r>
              <a:rPr dirty="0" sz="14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AWS</a:t>
            </a:r>
            <a:r>
              <a:rPr dirty="0" sz="14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Lambda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runs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automation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logic,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Amazon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CloudWatch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monitors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performance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all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secured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r>
              <a:rPr dirty="0" sz="140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AWS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IAM.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5556300"/>
            <a:ext cx="613727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5"/>
              </a:spcBef>
            </a:pP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DevOps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practices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Git,</a:t>
            </a:r>
            <a:r>
              <a:rPr dirty="0" sz="14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GitHub,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GitHub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Actions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4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automate</a:t>
            </a:r>
            <a:r>
              <a:rPr dirty="0" sz="14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source</a:t>
            </a:r>
            <a:r>
              <a:rPr dirty="0" sz="14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control</a:t>
            </a:r>
            <a:r>
              <a:rPr dirty="0" sz="14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63748A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deployment,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delivering</a:t>
            </a:r>
            <a:r>
              <a:rPr dirty="0" sz="1400" spc="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scalable,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secure,</a:t>
            </a:r>
            <a:r>
              <a:rPr dirty="0" sz="14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 continuously</a:t>
            </a:r>
            <a:r>
              <a:rPr dirty="0" sz="1400" spc="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deployed</a:t>
            </a:r>
            <a:r>
              <a:rPr dirty="0" sz="14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3748A"/>
                </a:solidFill>
                <a:latin typeface="Calibri"/>
                <a:cs typeface="Calibri"/>
              </a:rPr>
              <a:t>smart-</a:t>
            </a:r>
            <a:r>
              <a:rPr dirty="0" sz="1400" spc="-20">
                <a:solidFill>
                  <a:srgbClr val="63748A"/>
                </a:solidFill>
                <a:latin typeface="Calibri"/>
                <a:cs typeface="Calibri"/>
              </a:rPr>
              <a:t>home </a:t>
            </a:r>
            <a:r>
              <a:rPr dirty="0" sz="1400" spc="-10">
                <a:solidFill>
                  <a:srgbClr val="63748A"/>
                </a:solidFill>
                <a:latin typeface="Calibri"/>
                <a:cs typeface="Calibri"/>
              </a:rPr>
              <a:t>ecosystem.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60919" y="1600200"/>
            <a:ext cx="4251960" cy="4617720"/>
          </a:xfrm>
          <a:custGeom>
            <a:avLst/>
            <a:gdLst/>
            <a:ahLst/>
            <a:cxnLst/>
            <a:rect l="l" t="t" r="r" b="b"/>
            <a:pathLst>
              <a:path w="4251959" h="4617720">
                <a:moveTo>
                  <a:pt x="4123944" y="0"/>
                </a:moveTo>
                <a:lnTo>
                  <a:pt x="128015" y="0"/>
                </a:lnTo>
                <a:lnTo>
                  <a:pt x="78170" y="10054"/>
                </a:lnTo>
                <a:lnTo>
                  <a:pt x="37480" y="37480"/>
                </a:lnTo>
                <a:lnTo>
                  <a:pt x="10054" y="78170"/>
                </a:lnTo>
                <a:lnTo>
                  <a:pt x="0" y="128015"/>
                </a:lnTo>
                <a:lnTo>
                  <a:pt x="0" y="4489691"/>
                </a:lnTo>
                <a:lnTo>
                  <a:pt x="10054" y="4539528"/>
                </a:lnTo>
                <a:lnTo>
                  <a:pt x="37480" y="4580223"/>
                </a:lnTo>
                <a:lnTo>
                  <a:pt x="78170" y="4607659"/>
                </a:lnTo>
                <a:lnTo>
                  <a:pt x="128015" y="4617720"/>
                </a:lnTo>
                <a:lnTo>
                  <a:pt x="4123944" y="4617720"/>
                </a:lnTo>
                <a:lnTo>
                  <a:pt x="4173789" y="4607659"/>
                </a:lnTo>
                <a:lnTo>
                  <a:pt x="4214479" y="4580223"/>
                </a:lnTo>
                <a:lnTo>
                  <a:pt x="4241905" y="4539528"/>
                </a:lnTo>
                <a:lnTo>
                  <a:pt x="4251959" y="4489691"/>
                </a:lnTo>
                <a:lnTo>
                  <a:pt x="4251959" y="128015"/>
                </a:lnTo>
                <a:lnTo>
                  <a:pt x="4241905" y="78170"/>
                </a:lnTo>
                <a:lnTo>
                  <a:pt x="4214479" y="37480"/>
                </a:lnTo>
                <a:lnTo>
                  <a:pt x="4173789" y="10054"/>
                </a:lnTo>
                <a:lnTo>
                  <a:pt x="4123944" y="0"/>
                </a:lnTo>
                <a:close/>
              </a:path>
            </a:pathLst>
          </a:custGeom>
          <a:solidFill>
            <a:srgbClr val="3A0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06308" y="1912747"/>
            <a:ext cx="1668145" cy="930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0" b="1">
                <a:solidFill>
                  <a:srgbClr val="F87316"/>
                </a:solidFill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dirty="0" sz="1200" spc="-10">
                <a:solidFill>
                  <a:srgbClr val="E9D4FF"/>
                </a:solidFill>
                <a:latin typeface="Calibri"/>
                <a:cs typeface="Calibri"/>
              </a:rPr>
              <a:t>AWS</a:t>
            </a:r>
            <a:r>
              <a:rPr dirty="0" sz="1200" spc="-40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9D4FF"/>
                </a:solidFill>
                <a:latin typeface="Calibri"/>
                <a:cs typeface="Calibri"/>
              </a:rPr>
              <a:t>services</a:t>
            </a:r>
            <a:r>
              <a:rPr dirty="0" sz="1200" spc="-15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9D4FF"/>
                </a:solidFill>
                <a:latin typeface="Calibri"/>
                <a:cs typeface="Calibri"/>
              </a:rPr>
              <a:t>orchestrated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7806308" y="2991738"/>
            <a:ext cx="1475740" cy="930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0" b="1">
                <a:solidFill>
                  <a:srgbClr val="05B6D3"/>
                </a:solidFill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1200">
                <a:solidFill>
                  <a:srgbClr val="E9D4FF"/>
                </a:solidFill>
                <a:latin typeface="Calibri"/>
                <a:cs typeface="Calibri"/>
              </a:rPr>
              <a:t>Device</a:t>
            </a:r>
            <a:r>
              <a:rPr dirty="0" sz="1200" spc="-30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9D4FF"/>
                </a:solidFill>
                <a:latin typeface="Calibri"/>
                <a:cs typeface="Calibri"/>
              </a:rPr>
              <a:t>types</a:t>
            </a:r>
            <a:r>
              <a:rPr dirty="0" sz="1200" spc="-25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9D4FF"/>
                </a:solidFill>
                <a:latin typeface="Calibri"/>
                <a:cs typeface="Calibri"/>
              </a:rPr>
              <a:t>controlled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6308" y="4070984"/>
            <a:ext cx="1130300" cy="93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 b="1">
                <a:solidFill>
                  <a:srgbClr val="EB4799"/>
                </a:solidFill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200">
                <a:solidFill>
                  <a:srgbClr val="E9D4FF"/>
                </a:solidFill>
                <a:latin typeface="Calibri"/>
                <a:cs typeface="Calibri"/>
              </a:rPr>
              <a:t>Lambda</a:t>
            </a:r>
            <a:r>
              <a:rPr dirty="0" sz="1200" spc="-40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9D4FF"/>
                </a:solidFill>
                <a:latin typeface="Calibri"/>
                <a:cs typeface="Calibri"/>
              </a:rPr>
              <a:t>functions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06308" y="5150358"/>
            <a:ext cx="2100580" cy="93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 b="1">
                <a:solidFill>
                  <a:srgbClr val="F87316"/>
                </a:solidFill>
                <a:latin typeface="Calibri"/>
                <a:cs typeface="Calibri"/>
              </a:rPr>
              <a:t>24/7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200">
                <a:solidFill>
                  <a:srgbClr val="E9D4FF"/>
                </a:solidFill>
                <a:latin typeface="Calibri"/>
                <a:cs typeface="Calibri"/>
              </a:rPr>
              <a:t>Cloud</a:t>
            </a:r>
            <a:r>
              <a:rPr dirty="0" sz="1200" spc="-40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9D4FF"/>
                </a:solidFill>
                <a:latin typeface="Calibri"/>
                <a:cs typeface="Calibri"/>
              </a:rPr>
              <a:t>monitoring</a:t>
            </a:r>
            <a:r>
              <a:rPr dirty="0" sz="1200" spc="-50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9D4FF"/>
                </a:solidFill>
                <a:latin typeface="Calibri"/>
                <a:cs typeface="Calibri"/>
              </a:rPr>
              <a:t>via</a:t>
            </a:r>
            <a:r>
              <a:rPr dirty="0" sz="1200" spc="-15">
                <a:solidFill>
                  <a:srgbClr val="E9D4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9D4FF"/>
                </a:solidFill>
                <a:latin typeface="Calibri"/>
                <a:cs typeface="Calibri"/>
              </a:rPr>
              <a:t>CloudWatch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54482"/>
            <a:ext cx="21088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P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R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O</a:t>
            </a:r>
            <a:r>
              <a:rPr dirty="0" sz="14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B</a:t>
            </a:r>
            <a:r>
              <a:rPr dirty="0" sz="14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L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M</a:t>
            </a:r>
            <a:r>
              <a:rPr dirty="0" sz="1400" spc="37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S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A</a:t>
            </a:r>
            <a:r>
              <a:rPr dirty="0" sz="14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M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N</a:t>
            </a:r>
            <a:r>
              <a:rPr dirty="0" sz="1400" spc="-13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87316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80"/>
              <a:t> </a:t>
            </a:r>
            <a:r>
              <a:rPr dirty="0"/>
              <a:t>This</a:t>
            </a:r>
            <a:r>
              <a:rPr dirty="0" spc="-75"/>
              <a:t> </a:t>
            </a:r>
            <a:r>
              <a:rPr dirty="0" spc="-10"/>
              <a:t>Project?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7380" y="1767534"/>
            <a:ext cx="10281920" cy="901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3600"/>
              </a:lnSpc>
              <a:spcBef>
                <a:spcPts val="95"/>
              </a:spcBef>
            </a:pP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Traditional</a:t>
            </a:r>
            <a:r>
              <a:rPr dirty="0" sz="1550" spc="-8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home-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automation</a:t>
            </a:r>
            <a:r>
              <a:rPr dirty="0" sz="155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systems</a:t>
            </a:r>
            <a:r>
              <a:rPr dirty="0" sz="15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often</a:t>
            </a:r>
            <a:r>
              <a:rPr dirty="0" sz="15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require</a:t>
            </a:r>
            <a:r>
              <a:rPr dirty="0" sz="15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expensive</a:t>
            </a:r>
            <a:r>
              <a:rPr dirty="0" sz="15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hardware,</a:t>
            </a:r>
            <a:r>
              <a:rPr dirty="0" sz="155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complex</a:t>
            </a:r>
            <a:r>
              <a:rPr dirty="0" sz="15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installation,</a:t>
            </a:r>
            <a:r>
              <a:rPr dirty="0" sz="1550" spc="-6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5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limited</a:t>
            </a:r>
            <a:r>
              <a:rPr dirty="0" sz="1550" spc="-6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remote</a:t>
            </a:r>
            <a:r>
              <a:rPr dirty="0" sz="15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accessibility.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Managing</a:t>
            </a:r>
            <a:r>
              <a:rPr dirty="0" sz="155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multiple</a:t>
            </a:r>
            <a:r>
              <a:rPr dirty="0" sz="15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devices</a:t>
            </a:r>
            <a:r>
              <a:rPr dirty="0" sz="15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manually</a:t>
            </a:r>
            <a:r>
              <a:rPr dirty="0" sz="155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is</a:t>
            </a:r>
            <a:r>
              <a:rPr dirty="0" sz="15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inefficient</a:t>
            </a:r>
            <a:r>
              <a:rPr dirty="0" sz="15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5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time-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consuming</a:t>
            </a:r>
            <a:r>
              <a:rPr dirty="0" sz="15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5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there is</a:t>
            </a:r>
            <a:r>
              <a:rPr dirty="0" sz="15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5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clear</a:t>
            </a:r>
            <a:r>
              <a:rPr dirty="0" sz="15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need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for</a:t>
            </a:r>
            <a:r>
              <a:rPr dirty="0" sz="15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5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secure,</a:t>
            </a:r>
            <a:r>
              <a:rPr dirty="0" sz="15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scalable,</a:t>
            </a:r>
            <a:r>
              <a:rPr dirty="0" sz="15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cloud-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based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platform</a:t>
            </a:r>
            <a:r>
              <a:rPr dirty="0" sz="15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that</a:t>
            </a:r>
            <a:r>
              <a:rPr dirty="0" sz="15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users</a:t>
            </a:r>
            <a:r>
              <a:rPr dirty="0" sz="15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can</a:t>
            </a:r>
            <a:r>
              <a:rPr dirty="0" sz="15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monitor</a:t>
            </a:r>
            <a:r>
              <a:rPr dirty="0" sz="15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5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control</a:t>
            </a:r>
            <a:r>
              <a:rPr dirty="0" sz="155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dirty="0" sz="15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63748A"/>
                </a:solidFill>
                <a:latin typeface="Calibri"/>
                <a:cs typeface="Calibri"/>
              </a:rPr>
              <a:t>anywhere.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640" y="3063239"/>
            <a:ext cx="10881360" cy="2926080"/>
            <a:chOff x="548640" y="3063239"/>
            <a:chExt cx="10881360" cy="2926080"/>
          </a:xfrm>
        </p:grpSpPr>
        <p:sp>
          <p:nvSpPr>
            <p:cNvPr id="6" name="object 6"/>
            <p:cNvSpPr/>
            <p:nvPr/>
          </p:nvSpPr>
          <p:spPr>
            <a:xfrm>
              <a:off x="548640" y="3063239"/>
              <a:ext cx="10881360" cy="2926080"/>
            </a:xfrm>
            <a:custGeom>
              <a:avLst/>
              <a:gdLst/>
              <a:ahLst/>
              <a:cxnLst/>
              <a:rect l="l" t="t" r="r" b="b"/>
              <a:pathLst>
                <a:path w="10881360" h="2926079">
                  <a:moveTo>
                    <a:pt x="1077163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2816352"/>
                  </a:lnTo>
                  <a:lnTo>
                    <a:pt x="8622" y="2859064"/>
                  </a:lnTo>
                  <a:lnTo>
                    <a:pt x="32137" y="2893942"/>
                  </a:lnTo>
                  <a:lnTo>
                    <a:pt x="67015" y="2917457"/>
                  </a:lnTo>
                  <a:lnTo>
                    <a:pt x="109728" y="2926080"/>
                  </a:lnTo>
                  <a:lnTo>
                    <a:pt x="10771632" y="2926080"/>
                  </a:lnTo>
                  <a:lnTo>
                    <a:pt x="10814333" y="2917457"/>
                  </a:lnTo>
                  <a:lnTo>
                    <a:pt x="10849213" y="2893942"/>
                  </a:lnTo>
                  <a:lnTo>
                    <a:pt x="10872733" y="2859064"/>
                  </a:lnTo>
                  <a:lnTo>
                    <a:pt x="10881360" y="2816352"/>
                  </a:lnTo>
                  <a:lnTo>
                    <a:pt x="10881360" y="109727"/>
                  </a:lnTo>
                  <a:lnTo>
                    <a:pt x="10872733" y="67026"/>
                  </a:lnTo>
                  <a:lnTo>
                    <a:pt x="10849213" y="32146"/>
                  </a:lnTo>
                  <a:lnTo>
                    <a:pt x="10814333" y="8626"/>
                  </a:lnTo>
                  <a:lnTo>
                    <a:pt x="10771632" y="0"/>
                  </a:lnTo>
                  <a:close/>
                </a:path>
              </a:pathLst>
            </a:custGeom>
            <a:solidFill>
              <a:srgbClr val="FFF7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assets/icons/triangleExclaim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809" y="3734384"/>
              <a:ext cx="395020" cy="3950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82114" y="3576650"/>
            <a:ext cx="1812289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0E172A"/>
                </a:solidFill>
                <a:latin typeface="Calibri"/>
                <a:cs typeface="Calibri"/>
              </a:rPr>
              <a:t>The</a:t>
            </a:r>
            <a:r>
              <a:rPr dirty="0" sz="1900" spc="-5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E172A"/>
                </a:solidFill>
                <a:latin typeface="Calibri"/>
                <a:cs typeface="Calibri"/>
              </a:rPr>
              <a:t>Core</a:t>
            </a:r>
            <a:r>
              <a:rPr dirty="0" sz="1900" spc="-5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0E172A"/>
                </a:solidFill>
                <a:latin typeface="Calibri"/>
                <a:cs typeface="Calibri"/>
              </a:rPr>
              <a:t>Problem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2182114" y="4534349"/>
            <a:ext cx="8509635" cy="58293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Manual,</a:t>
            </a:r>
            <a:r>
              <a:rPr dirty="0" sz="14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63748A"/>
                </a:solidFill>
                <a:latin typeface="Calibri"/>
                <a:cs typeface="Calibri"/>
              </a:rPr>
              <a:t>hardware-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heavy</a:t>
            </a:r>
            <a:r>
              <a:rPr dirty="0" sz="14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home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monitoring</a:t>
            </a:r>
            <a:r>
              <a:rPr dirty="0" sz="145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means</a:t>
            </a:r>
            <a:r>
              <a:rPr dirty="0" sz="14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no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63748A"/>
                </a:solidFill>
                <a:latin typeface="Calibri"/>
                <a:cs typeface="Calibri"/>
              </a:rPr>
              <a:t>centralized</a:t>
            </a:r>
            <a:r>
              <a:rPr dirty="0" sz="14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visibility</a:t>
            </a:r>
            <a:r>
              <a:rPr dirty="0" sz="14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4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dirty="0" sz="14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left</a:t>
            </a:r>
            <a:r>
              <a:rPr dirty="0" sz="14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on,</a:t>
            </a:r>
            <a:r>
              <a:rPr dirty="0" sz="14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4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gas</a:t>
            </a:r>
            <a:r>
              <a:rPr dirty="0" sz="14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leak,</a:t>
            </a:r>
            <a:r>
              <a:rPr dirty="0" sz="14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or</a:t>
            </a:r>
            <a:r>
              <a:rPr dirty="0" sz="14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4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63748A"/>
                </a:solidFill>
                <a:latin typeface="Calibri"/>
                <a:cs typeface="Calibri"/>
              </a:rPr>
              <a:t>door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left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unlocked</a:t>
            </a:r>
            <a:r>
              <a:rPr dirty="0" sz="14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can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go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unnoticed</a:t>
            </a:r>
            <a:r>
              <a:rPr dirty="0" sz="145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until</a:t>
            </a:r>
            <a:r>
              <a:rPr dirty="0" sz="14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it's</a:t>
            </a:r>
            <a:r>
              <a:rPr dirty="0" sz="14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too</a:t>
            </a:r>
            <a:r>
              <a:rPr dirty="0" sz="145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late,</a:t>
            </a:r>
            <a:r>
              <a:rPr dirty="0" sz="14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r>
              <a:rPr dirty="0" sz="145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no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easy</a:t>
            </a:r>
            <a:r>
              <a:rPr dirty="0" sz="14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way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dirty="0" sz="14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check</a:t>
            </a:r>
            <a:r>
              <a:rPr dirty="0" sz="14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or</a:t>
            </a:r>
            <a:r>
              <a:rPr dirty="0" sz="14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3748A"/>
                </a:solidFill>
                <a:latin typeface="Calibri"/>
                <a:cs typeface="Calibri"/>
              </a:rPr>
              <a:t>act</a:t>
            </a:r>
            <a:r>
              <a:rPr dirty="0" sz="14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63748A"/>
                </a:solidFill>
                <a:latin typeface="Calibri"/>
                <a:cs typeface="Calibri"/>
              </a:rPr>
              <a:t>remotely.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54482"/>
            <a:ext cx="1604645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X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I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S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T</a:t>
            </a:r>
            <a:r>
              <a:rPr dirty="0" sz="1400" spc="-11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I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N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G</a:t>
            </a:r>
            <a:r>
              <a:rPr dirty="0" sz="1400" spc="365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I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S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S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U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50">
                <a:solidFill>
                  <a:srgbClr val="05B6D3"/>
                </a:solidFill>
              </a:rPr>
              <a:t>S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627380" y="918717"/>
            <a:ext cx="55537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Problems</a:t>
            </a:r>
            <a:r>
              <a:rPr dirty="0" sz="3000" spc="-10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with</a:t>
            </a:r>
            <a:r>
              <a:rPr dirty="0" sz="3000" spc="-10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Current</a:t>
            </a:r>
            <a:r>
              <a:rPr dirty="0" sz="3000" spc="-10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E172A"/>
                </a:solidFill>
                <a:latin typeface="Calibri"/>
                <a:cs typeface="Calibri"/>
              </a:rPr>
              <a:t>Approaches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691639"/>
            <a:ext cx="5303520" cy="1234440"/>
            <a:chOff x="548640" y="1691639"/>
            <a:chExt cx="5303520" cy="1234440"/>
          </a:xfrm>
        </p:grpSpPr>
        <p:sp>
          <p:nvSpPr>
            <p:cNvPr id="5" name="object 5"/>
            <p:cNvSpPr/>
            <p:nvPr/>
          </p:nvSpPr>
          <p:spPr>
            <a:xfrm>
              <a:off x="548640" y="1691639"/>
              <a:ext cx="5303520" cy="1234440"/>
            </a:xfrm>
            <a:custGeom>
              <a:avLst/>
              <a:gdLst/>
              <a:ahLst/>
              <a:cxnLst/>
              <a:rect l="l" t="t" r="r" b="b"/>
              <a:pathLst>
                <a:path w="5303520" h="1234439">
                  <a:moveTo>
                    <a:pt x="5212080" y="0"/>
                  </a:moveTo>
                  <a:lnTo>
                    <a:pt x="91439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143000"/>
                  </a:lnTo>
                  <a:lnTo>
                    <a:pt x="7184" y="1178611"/>
                  </a:lnTo>
                  <a:lnTo>
                    <a:pt x="26779" y="1207674"/>
                  </a:lnTo>
                  <a:lnTo>
                    <a:pt x="55844" y="1227260"/>
                  </a:lnTo>
                  <a:lnTo>
                    <a:pt x="91439" y="1234439"/>
                  </a:lnTo>
                  <a:lnTo>
                    <a:pt x="5212080" y="1234439"/>
                  </a:lnTo>
                  <a:lnTo>
                    <a:pt x="5247691" y="1227260"/>
                  </a:lnTo>
                  <a:lnTo>
                    <a:pt x="5276754" y="1207674"/>
                  </a:lnTo>
                  <a:lnTo>
                    <a:pt x="5296340" y="1178611"/>
                  </a:lnTo>
                  <a:lnTo>
                    <a:pt x="5303520" y="1143000"/>
                  </a:lnTo>
                  <a:lnTo>
                    <a:pt x="5303520" y="91439"/>
                  </a:lnTo>
                  <a:lnTo>
                    <a:pt x="5296340" y="55828"/>
                  </a:lnTo>
                  <a:lnTo>
                    <a:pt x="5276754" y="26765"/>
                  </a:lnTo>
                  <a:lnTo>
                    <a:pt x="5247691" y="7179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assets/icons/xmar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806" y="2186000"/>
              <a:ext cx="245795" cy="24579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87753" y="2063902"/>
            <a:ext cx="3213735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No</a:t>
            </a:r>
            <a:r>
              <a:rPr dirty="0" sz="1300" spc="-4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remote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visibility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into</a:t>
            </a:r>
            <a:r>
              <a:rPr dirty="0" sz="1300" spc="-3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device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status</a:t>
            </a:r>
            <a:r>
              <a:rPr dirty="0" sz="13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or</a:t>
            </a:r>
            <a:r>
              <a:rPr dirty="0" sz="1300" spc="-4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sensor conditions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26479" y="1691639"/>
            <a:ext cx="5303520" cy="1234440"/>
            <a:chOff x="6126479" y="1691639"/>
            <a:chExt cx="5303520" cy="1234440"/>
          </a:xfrm>
        </p:grpSpPr>
        <p:sp>
          <p:nvSpPr>
            <p:cNvPr id="9" name="object 9"/>
            <p:cNvSpPr/>
            <p:nvPr/>
          </p:nvSpPr>
          <p:spPr>
            <a:xfrm>
              <a:off x="6126479" y="1691639"/>
              <a:ext cx="5303520" cy="1234440"/>
            </a:xfrm>
            <a:custGeom>
              <a:avLst/>
              <a:gdLst/>
              <a:ahLst/>
              <a:cxnLst/>
              <a:rect l="l" t="t" r="r" b="b"/>
              <a:pathLst>
                <a:path w="5303520" h="1234439">
                  <a:moveTo>
                    <a:pt x="521208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143000"/>
                  </a:lnTo>
                  <a:lnTo>
                    <a:pt x="7179" y="1178611"/>
                  </a:lnTo>
                  <a:lnTo>
                    <a:pt x="26765" y="1207674"/>
                  </a:lnTo>
                  <a:lnTo>
                    <a:pt x="55828" y="1227260"/>
                  </a:lnTo>
                  <a:lnTo>
                    <a:pt x="91440" y="1234439"/>
                  </a:lnTo>
                  <a:lnTo>
                    <a:pt x="5212080" y="1234439"/>
                  </a:lnTo>
                  <a:lnTo>
                    <a:pt x="5247691" y="1227260"/>
                  </a:lnTo>
                  <a:lnTo>
                    <a:pt x="5276754" y="1207674"/>
                  </a:lnTo>
                  <a:lnTo>
                    <a:pt x="5296340" y="1178611"/>
                  </a:lnTo>
                  <a:lnTo>
                    <a:pt x="5303520" y="1143000"/>
                  </a:lnTo>
                  <a:lnTo>
                    <a:pt x="5303520" y="91439"/>
                  </a:lnTo>
                  <a:lnTo>
                    <a:pt x="5296340" y="55828"/>
                  </a:lnTo>
                  <a:lnTo>
                    <a:pt x="5276754" y="26765"/>
                  </a:lnTo>
                  <a:lnTo>
                    <a:pt x="5247691" y="7179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assets/icons/xmar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5607" y="2186000"/>
              <a:ext cx="245795" cy="24579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166229" y="2063902"/>
            <a:ext cx="3391535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Manual,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hardware-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based</a:t>
            </a:r>
            <a:r>
              <a:rPr dirty="0" sz="1300" spc="-4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automation</a:t>
            </a:r>
            <a:r>
              <a:rPr dirty="0" sz="13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is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costly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and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complex</a:t>
            </a:r>
            <a:r>
              <a:rPr dirty="0" sz="1300" spc="-4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to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install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8640" y="3154679"/>
            <a:ext cx="5303520" cy="1234440"/>
            <a:chOff x="548640" y="3154679"/>
            <a:chExt cx="5303520" cy="1234440"/>
          </a:xfrm>
        </p:grpSpPr>
        <p:sp>
          <p:nvSpPr>
            <p:cNvPr id="13" name="object 13"/>
            <p:cNvSpPr/>
            <p:nvPr/>
          </p:nvSpPr>
          <p:spPr>
            <a:xfrm>
              <a:off x="548640" y="3154679"/>
              <a:ext cx="5303520" cy="1234440"/>
            </a:xfrm>
            <a:custGeom>
              <a:avLst/>
              <a:gdLst/>
              <a:ahLst/>
              <a:cxnLst/>
              <a:rect l="l" t="t" r="r" b="b"/>
              <a:pathLst>
                <a:path w="5303520" h="1234439">
                  <a:moveTo>
                    <a:pt x="5212080" y="0"/>
                  </a:moveTo>
                  <a:lnTo>
                    <a:pt x="91439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40"/>
                  </a:lnTo>
                  <a:lnTo>
                    <a:pt x="0" y="1143000"/>
                  </a:lnTo>
                  <a:lnTo>
                    <a:pt x="7184" y="1178611"/>
                  </a:lnTo>
                  <a:lnTo>
                    <a:pt x="26779" y="1207674"/>
                  </a:lnTo>
                  <a:lnTo>
                    <a:pt x="55844" y="1227260"/>
                  </a:lnTo>
                  <a:lnTo>
                    <a:pt x="91439" y="1234440"/>
                  </a:lnTo>
                  <a:lnTo>
                    <a:pt x="5212080" y="1234440"/>
                  </a:lnTo>
                  <a:lnTo>
                    <a:pt x="5247691" y="1227260"/>
                  </a:lnTo>
                  <a:lnTo>
                    <a:pt x="5276754" y="1207674"/>
                  </a:lnTo>
                  <a:lnTo>
                    <a:pt x="5296340" y="1178611"/>
                  </a:lnTo>
                  <a:lnTo>
                    <a:pt x="5303520" y="1143000"/>
                  </a:lnTo>
                  <a:lnTo>
                    <a:pt x="5303520" y="91440"/>
                  </a:lnTo>
                  <a:lnTo>
                    <a:pt x="5296340" y="55828"/>
                  </a:lnTo>
                  <a:lnTo>
                    <a:pt x="5276754" y="26765"/>
                  </a:lnTo>
                  <a:lnTo>
                    <a:pt x="5247691" y="7179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assets/icons/xmar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806" y="3649040"/>
              <a:ext cx="245795" cy="24579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87753" y="3527196"/>
            <a:ext cx="3321685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No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centralized</a:t>
            </a:r>
            <a:r>
              <a:rPr dirty="0" sz="13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dashboard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for</a:t>
            </a:r>
            <a:r>
              <a:rPr dirty="0" sz="13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controlling</a:t>
            </a:r>
            <a:r>
              <a:rPr dirty="0" sz="13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multiple appliances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26479" y="3154679"/>
            <a:ext cx="5303520" cy="1234440"/>
            <a:chOff x="6126479" y="3154679"/>
            <a:chExt cx="5303520" cy="1234440"/>
          </a:xfrm>
        </p:grpSpPr>
        <p:sp>
          <p:nvSpPr>
            <p:cNvPr id="17" name="object 17"/>
            <p:cNvSpPr/>
            <p:nvPr/>
          </p:nvSpPr>
          <p:spPr>
            <a:xfrm>
              <a:off x="6126479" y="3154679"/>
              <a:ext cx="5303520" cy="1234440"/>
            </a:xfrm>
            <a:custGeom>
              <a:avLst/>
              <a:gdLst/>
              <a:ahLst/>
              <a:cxnLst/>
              <a:rect l="l" t="t" r="r" b="b"/>
              <a:pathLst>
                <a:path w="5303520" h="1234439">
                  <a:moveTo>
                    <a:pt x="521208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1143000"/>
                  </a:lnTo>
                  <a:lnTo>
                    <a:pt x="7179" y="1178611"/>
                  </a:lnTo>
                  <a:lnTo>
                    <a:pt x="26765" y="1207674"/>
                  </a:lnTo>
                  <a:lnTo>
                    <a:pt x="55828" y="1227260"/>
                  </a:lnTo>
                  <a:lnTo>
                    <a:pt x="91440" y="1234440"/>
                  </a:lnTo>
                  <a:lnTo>
                    <a:pt x="5212080" y="1234440"/>
                  </a:lnTo>
                  <a:lnTo>
                    <a:pt x="5247691" y="1227260"/>
                  </a:lnTo>
                  <a:lnTo>
                    <a:pt x="5276754" y="1207674"/>
                  </a:lnTo>
                  <a:lnTo>
                    <a:pt x="5296340" y="1178611"/>
                  </a:lnTo>
                  <a:lnTo>
                    <a:pt x="5303520" y="1143000"/>
                  </a:lnTo>
                  <a:lnTo>
                    <a:pt x="5303520" y="91440"/>
                  </a:lnTo>
                  <a:lnTo>
                    <a:pt x="5296340" y="55828"/>
                  </a:lnTo>
                  <a:lnTo>
                    <a:pt x="5276754" y="26765"/>
                  </a:lnTo>
                  <a:lnTo>
                    <a:pt x="5247691" y="7179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assets/icons/xmar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5607" y="3649040"/>
              <a:ext cx="245795" cy="24579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166229" y="3527196"/>
            <a:ext cx="3496310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Abnormal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conditions</a:t>
            </a:r>
            <a:r>
              <a:rPr dirty="0" sz="13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(e.g.,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gas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leaks)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go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undetected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without</a:t>
            </a:r>
            <a:r>
              <a:rPr dirty="0" sz="1300" spc="-4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alerts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8640" y="4617720"/>
            <a:ext cx="5303520" cy="1234440"/>
            <a:chOff x="548640" y="4617720"/>
            <a:chExt cx="5303520" cy="1234440"/>
          </a:xfrm>
        </p:grpSpPr>
        <p:sp>
          <p:nvSpPr>
            <p:cNvPr id="21" name="object 21"/>
            <p:cNvSpPr/>
            <p:nvPr/>
          </p:nvSpPr>
          <p:spPr>
            <a:xfrm>
              <a:off x="548640" y="4617720"/>
              <a:ext cx="5303520" cy="1234440"/>
            </a:xfrm>
            <a:custGeom>
              <a:avLst/>
              <a:gdLst/>
              <a:ahLst/>
              <a:cxnLst/>
              <a:rect l="l" t="t" r="r" b="b"/>
              <a:pathLst>
                <a:path w="5303520" h="1234439">
                  <a:moveTo>
                    <a:pt x="5212080" y="0"/>
                  </a:moveTo>
                  <a:lnTo>
                    <a:pt x="91439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142999"/>
                  </a:lnTo>
                  <a:lnTo>
                    <a:pt x="7184" y="1178595"/>
                  </a:lnTo>
                  <a:lnTo>
                    <a:pt x="26779" y="1207660"/>
                  </a:lnTo>
                  <a:lnTo>
                    <a:pt x="55844" y="1227255"/>
                  </a:lnTo>
                  <a:lnTo>
                    <a:pt x="91439" y="1234439"/>
                  </a:lnTo>
                  <a:lnTo>
                    <a:pt x="5212080" y="1234439"/>
                  </a:lnTo>
                  <a:lnTo>
                    <a:pt x="5247691" y="1227255"/>
                  </a:lnTo>
                  <a:lnTo>
                    <a:pt x="5276754" y="1207660"/>
                  </a:lnTo>
                  <a:lnTo>
                    <a:pt x="5296340" y="1178595"/>
                  </a:lnTo>
                  <a:lnTo>
                    <a:pt x="5303520" y="1142999"/>
                  </a:lnTo>
                  <a:lnTo>
                    <a:pt x="5303520" y="91439"/>
                  </a:lnTo>
                  <a:lnTo>
                    <a:pt x="5296340" y="55828"/>
                  </a:lnTo>
                  <a:lnTo>
                    <a:pt x="5276754" y="26765"/>
                  </a:lnTo>
                  <a:lnTo>
                    <a:pt x="5247691" y="7179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assets/icons/xmar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806" y="5112080"/>
              <a:ext cx="245795" cy="24579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587753" y="5117338"/>
            <a:ext cx="37407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Limited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scalability</a:t>
            </a:r>
            <a:r>
              <a:rPr dirty="0" sz="1300" spc="-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and</a:t>
            </a:r>
            <a:r>
              <a:rPr dirty="0" sz="1300" spc="-3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no</a:t>
            </a:r>
            <a:r>
              <a:rPr dirty="0" sz="13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built-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in</a:t>
            </a:r>
            <a:r>
              <a:rPr dirty="0" sz="13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monitoring</a:t>
            </a:r>
            <a:r>
              <a:rPr dirty="0" sz="1300" spc="-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or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logging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26479" y="4617720"/>
            <a:ext cx="5303520" cy="1234440"/>
            <a:chOff x="6126479" y="4617720"/>
            <a:chExt cx="5303520" cy="1234440"/>
          </a:xfrm>
        </p:grpSpPr>
        <p:sp>
          <p:nvSpPr>
            <p:cNvPr id="25" name="object 25"/>
            <p:cNvSpPr/>
            <p:nvPr/>
          </p:nvSpPr>
          <p:spPr>
            <a:xfrm>
              <a:off x="6126479" y="4617720"/>
              <a:ext cx="5303520" cy="1234440"/>
            </a:xfrm>
            <a:custGeom>
              <a:avLst/>
              <a:gdLst/>
              <a:ahLst/>
              <a:cxnLst/>
              <a:rect l="l" t="t" r="r" b="b"/>
              <a:pathLst>
                <a:path w="5303520" h="1234439">
                  <a:moveTo>
                    <a:pt x="521208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142999"/>
                  </a:lnTo>
                  <a:lnTo>
                    <a:pt x="7179" y="1178595"/>
                  </a:lnTo>
                  <a:lnTo>
                    <a:pt x="26765" y="1207660"/>
                  </a:lnTo>
                  <a:lnTo>
                    <a:pt x="55828" y="1227255"/>
                  </a:lnTo>
                  <a:lnTo>
                    <a:pt x="91440" y="1234439"/>
                  </a:lnTo>
                  <a:lnTo>
                    <a:pt x="5212080" y="1234439"/>
                  </a:lnTo>
                  <a:lnTo>
                    <a:pt x="5247691" y="1227255"/>
                  </a:lnTo>
                  <a:lnTo>
                    <a:pt x="5276754" y="1207660"/>
                  </a:lnTo>
                  <a:lnTo>
                    <a:pt x="5296340" y="1178595"/>
                  </a:lnTo>
                  <a:lnTo>
                    <a:pt x="5303520" y="1142999"/>
                  </a:lnTo>
                  <a:lnTo>
                    <a:pt x="5303520" y="91439"/>
                  </a:lnTo>
                  <a:lnTo>
                    <a:pt x="5296340" y="55828"/>
                  </a:lnTo>
                  <a:lnTo>
                    <a:pt x="5276754" y="26765"/>
                  </a:lnTo>
                  <a:lnTo>
                    <a:pt x="5247691" y="7179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assets/icons/xmar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5607" y="5112080"/>
              <a:ext cx="245795" cy="24579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166229" y="4990617"/>
            <a:ext cx="3431540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No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automated,</a:t>
            </a:r>
            <a:r>
              <a:rPr dirty="0" sz="1300" spc="-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repeatable</a:t>
            </a:r>
            <a:r>
              <a:rPr dirty="0" sz="13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deployment</a:t>
            </a:r>
            <a:r>
              <a:rPr dirty="0" sz="1300" spc="-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172A"/>
                </a:solidFill>
                <a:latin typeface="Calibri"/>
                <a:cs typeface="Calibri"/>
              </a:rPr>
              <a:t>process</a:t>
            </a:r>
            <a:r>
              <a:rPr dirty="0" sz="13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E172A"/>
                </a:solidFill>
                <a:latin typeface="Calibri"/>
                <a:cs typeface="Calibri"/>
              </a:rPr>
              <a:t>for </a:t>
            </a:r>
            <a:r>
              <a:rPr dirty="0" sz="1300" spc="-10">
                <a:solidFill>
                  <a:srgbClr val="0E172A"/>
                </a:solidFill>
                <a:latin typeface="Calibri"/>
                <a:cs typeface="Calibri"/>
              </a:rPr>
              <a:t>updates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54482"/>
            <a:ext cx="20561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P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R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P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D</a:t>
            </a:r>
            <a:r>
              <a:rPr dirty="0" sz="1400" spc="375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U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70"/>
              <a:t> </a:t>
            </a:r>
            <a:r>
              <a:rPr dirty="0" spc="-10"/>
              <a:t>Cloud-</a:t>
            </a:r>
            <a:r>
              <a:rPr dirty="0"/>
              <a:t>Native</a:t>
            </a:r>
            <a:r>
              <a:rPr dirty="0" spc="-60"/>
              <a:t> </a:t>
            </a:r>
            <a:r>
              <a:rPr dirty="0" spc="-10"/>
              <a:t>Answer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7380" y="1836547"/>
            <a:ext cx="1057021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000"/>
              </a:lnSpc>
              <a:spcBef>
                <a:spcPts val="100"/>
              </a:spcBef>
            </a:pP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5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platform</a:t>
            </a:r>
            <a:r>
              <a:rPr dirty="0" sz="15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is</a:t>
            </a:r>
            <a:r>
              <a:rPr dirty="0" sz="15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5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cloud-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based,</a:t>
            </a:r>
            <a:r>
              <a:rPr dirty="0" sz="15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serverless</a:t>
            </a:r>
            <a:r>
              <a:rPr dirty="0" sz="15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system</a:t>
            </a:r>
            <a:r>
              <a:rPr dirty="0" sz="150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built</a:t>
            </a:r>
            <a:r>
              <a:rPr dirty="0" sz="15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entirely</a:t>
            </a:r>
            <a:r>
              <a:rPr dirty="0" sz="15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on</a:t>
            </a:r>
            <a:r>
              <a:rPr dirty="0" sz="15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AWS.</a:t>
            </a:r>
            <a:r>
              <a:rPr dirty="0" sz="15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It</a:t>
            </a:r>
            <a:r>
              <a:rPr dirty="0" sz="15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monitors</a:t>
            </a:r>
            <a:r>
              <a:rPr dirty="0" sz="15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live</a:t>
            </a:r>
            <a:r>
              <a:rPr dirty="0" sz="15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sensor</a:t>
            </a:r>
            <a:r>
              <a:rPr dirty="0" sz="15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data</a:t>
            </a:r>
            <a:r>
              <a:rPr dirty="0" sz="15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5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lets</a:t>
            </a:r>
            <a:r>
              <a:rPr dirty="0" sz="15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users</a:t>
            </a:r>
            <a:r>
              <a:rPr dirty="0" sz="15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control</a:t>
            </a:r>
            <a:r>
              <a:rPr dirty="0" sz="15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lights,</a:t>
            </a:r>
            <a:r>
              <a:rPr dirty="0" sz="15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fans,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doors,</a:t>
            </a:r>
            <a:r>
              <a:rPr dirty="0" sz="15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5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an</a:t>
            </a:r>
            <a:r>
              <a:rPr dirty="0" sz="15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air</a:t>
            </a:r>
            <a:r>
              <a:rPr dirty="0" sz="15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conditioner</a:t>
            </a:r>
            <a:r>
              <a:rPr dirty="0" sz="15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dirty="0" sz="15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single</a:t>
            </a:r>
            <a:r>
              <a:rPr dirty="0" sz="15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web</a:t>
            </a:r>
            <a:r>
              <a:rPr dirty="0" sz="15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dashboard</a:t>
            </a:r>
            <a:r>
              <a:rPr dirty="0" sz="15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5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r>
              <a:rPr dirty="0" sz="15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automation</a:t>
            </a:r>
            <a:r>
              <a:rPr dirty="0" sz="15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logic,</a:t>
            </a:r>
            <a:r>
              <a:rPr dirty="0" sz="15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storage,</a:t>
            </a:r>
            <a:r>
              <a:rPr dirty="0" sz="150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5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monitoring</a:t>
            </a:r>
            <a:r>
              <a:rPr dirty="0" sz="15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fully</a:t>
            </a:r>
            <a:r>
              <a:rPr dirty="0" sz="15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managed</a:t>
            </a:r>
            <a:r>
              <a:rPr dirty="0" sz="15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dirty="0" sz="15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500" spc="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3748A"/>
                </a:solidFill>
                <a:latin typeface="Calibri"/>
                <a:cs typeface="Calibri"/>
              </a:rPr>
              <a:t>cloud.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640" y="3063239"/>
            <a:ext cx="1971675" cy="2286000"/>
            <a:chOff x="548640" y="3063239"/>
            <a:chExt cx="1971675" cy="2286000"/>
          </a:xfrm>
        </p:grpSpPr>
        <p:sp>
          <p:nvSpPr>
            <p:cNvPr id="6" name="object 6"/>
            <p:cNvSpPr/>
            <p:nvPr/>
          </p:nvSpPr>
          <p:spPr>
            <a:xfrm>
              <a:off x="548640" y="3063239"/>
              <a:ext cx="1971675" cy="2286000"/>
            </a:xfrm>
            <a:custGeom>
              <a:avLst/>
              <a:gdLst/>
              <a:ahLst/>
              <a:cxnLst/>
              <a:rect l="l" t="t" r="r" b="b"/>
              <a:pathLst>
                <a:path w="1971675" h="2286000">
                  <a:moveTo>
                    <a:pt x="186169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2176272"/>
                  </a:lnTo>
                  <a:lnTo>
                    <a:pt x="8622" y="2218973"/>
                  </a:lnTo>
                  <a:lnTo>
                    <a:pt x="32137" y="2253853"/>
                  </a:lnTo>
                  <a:lnTo>
                    <a:pt x="67015" y="2277373"/>
                  </a:lnTo>
                  <a:lnTo>
                    <a:pt x="109728" y="2286000"/>
                  </a:lnTo>
                  <a:lnTo>
                    <a:pt x="1861692" y="2286000"/>
                  </a:lnTo>
                  <a:lnTo>
                    <a:pt x="1904394" y="2277373"/>
                  </a:lnTo>
                  <a:lnTo>
                    <a:pt x="1939274" y="2253853"/>
                  </a:lnTo>
                  <a:lnTo>
                    <a:pt x="1962794" y="2218973"/>
                  </a:lnTo>
                  <a:lnTo>
                    <a:pt x="1971421" y="2176272"/>
                  </a:lnTo>
                  <a:lnTo>
                    <a:pt x="1971421" y="109727"/>
                  </a:lnTo>
                  <a:lnTo>
                    <a:pt x="1962794" y="67026"/>
                  </a:lnTo>
                  <a:lnTo>
                    <a:pt x="1939274" y="32146"/>
                  </a:lnTo>
                  <a:lnTo>
                    <a:pt x="1904394" y="8626"/>
                  </a:lnTo>
                  <a:lnTo>
                    <a:pt x="186169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assets/icons/house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8773" y="3545992"/>
              <a:ext cx="351129" cy="35112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89761" y="4266057"/>
            <a:ext cx="8763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70" b="1">
                <a:solidFill>
                  <a:srgbClr val="7B39EC"/>
                </a:solidFill>
                <a:latin typeface="Calibri"/>
                <a:cs typeface="Calibri"/>
              </a:rPr>
              <a:t>DASHBOARD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9573" y="4657725"/>
            <a:ext cx="84772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7310" marR="5080" indent="-55244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0E172A"/>
                </a:solidFill>
                <a:latin typeface="Calibri"/>
                <a:cs typeface="Calibri"/>
              </a:rPr>
              <a:t>Static</a:t>
            </a:r>
            <a:r>
              <a:rPr dirty="0" sz="1250" spc="-4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E172A"/>
                </a:solidFill>
                <a:latin typeface="Calibri"/>
                <a:cs typeface="Calibri"/>
              </a:rPr>
              <a:t>site</a:t>
            </a:r>
            <a:r>
              <a:rPr dirty="0" sz="125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0E172A"/>
                </a:solidFill>
                <a:latin typeface="Calibri"/>
                <a:cs typeface="Calibri"/>
              </a:rPr>
              <a:t>on </a:t>
            </a:r>
            <a:r>
              <a:rPr dirty="0" sz="1250">
                <a:solidFill>
                  <a:srgbClr val="0E172A"/>
                </a:solidFill>
                <a:latin typeface="Calibri"/>
                <a:cs typeface="Calibri"/>
              </a:rPr>
              <a:t>Amazon</a:t>
            </a:r>
            <a:r>
              <a:rPr dirty="0" sz="1250" spc="-6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0E172A"/>
                </a:solidFill>
                <a:latin typeface="Calibri"/>
                <a:cs typeface="Calibri"/>
              </a:rPr>
              <a:t>S3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10917" y="3063239"/>
            <a:ext cx="2237105" cy="2286000"/>
            <a:chOff x="2510917" y="3063239"/>
            <a:chExt cx="2237105" cy="2286000"/>
          </a:xfrm>
        </p:grpSpPr>
        <p:pic>
          <p:nvPicPr>
            <p:cNvPr id="11" name="object 11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0917" y="4069079"/>
              <a:ext cx="274319" cy="2743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76093" y="3063239"/>
              <a:ext cx="1971675" cy="2286000"/>
            </a:xfrm>
            <a:custGeom>
              <a:avLst/>
              <a:gdLst/>
              <a:ahLst/>
              <a:cxnLst/>
              <a:rect l="l" t="t" r="r" b="b"/>
              <a:pathLst>
                <a:path w="1971675" h="2286000">
                  <a:moveTo>
                    <a:pt x="1861693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2176272"/>
                  </a:lnTo>
                  <a:lnTo>
                    <a:pt x="8626" y="2218973"/>
                  </a:lnTo>
                  <a:lnTo>
                    <a:pt x="32146" y="2253853"/>
                  </a:lnTo>
                  <a:lnTo>
                    <a:pt x="67026" y="2277373"/>
                  </a:lnTo>
                  <a:lnTo>
                    <a:pt x="109727" y="2286000"/>
                  </a:lnTo>
                  <a:lnTo>
                    <a:pt x="1861693" y="2286000"/>
                  </a:lnTo>
                  <a:lnTo>
                    <a:pt x="1904448" y="2277373"/>
                  </a:lnTo>
                  <a:lnTo>
                    <a:pt x="1939321" y="2253853"/>
                  </a:lnTo>
                  <a:lnTo>
                    <a:pt x="1962812" y="2218973"/>
                  </a:lnTo>
                  <a:lnTo>
                    <a:pt x="1971420" y="2176272"/>
                  </a:lnTo>
                  <a:lnTo>
                    <a:pt x="1971420" y="109727"/>
                  </a:lnTo>
                  <a:lnTo>
                    <a:pt x="1962812" y="67026"/>
                  </a:lnTo>
                  <a:lnTo>
                    <a:pt x="1939321" y="32146"/>
                  </a:lnTo>
                  <a:lnTo>
                    <a:pt x="1904448" y="8626"/>
                  </a:lnTo>
                  <a:lnTo>
                    <a:pt x="1861693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assets/icons/network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6226" y="3545992"/>
              <a:ext cx="351129" cy="35112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31438" y="4266057"/>
            <a:ext cx="2470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40" b="1">
                <a:solidFill>
                  <a:srgbClr val="F87316"/>
                </a:solidFill>
                <a:latin typeface="Calibri"/>
                <a:cs typeface="Calibri"/>
              </a:rPr>
              <a:t>API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41878" y="4657725"/>
            <a:ext cx="839469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605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0E172A"/>
                </a:solidFill>
                <a:latin typeface="Calibri"/>
                <a:cs typeface="Calibri"/>
              </a:rPr>
              <a:t>Amazon </a:t>
            </a:r>
            <a:r>
              <a:rPr dirty="0" sz="1250">
                <a:solidFill>
                  <a:srgbClr val="0E172A"/>
                </a:solidFill>
                <a:latin typeface="Calibri"/>
                <a:cs typeface="Calibri"/>
              </a:rPr>
              <a:t>API</a:t>
            </a:r>
            <a:r>
              <a:rPr dirty="0" sz="1250" spc="-1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0E172A"/>
                </a:solidFill>
                <a:latin typeface="Calibri"/>
                <a:cs typeface="Calibri"/>
              </a:rPr>
              <a:t>Gateway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38370" y="3063239"/>
            <a:ext cx="2237105" cy="2286000"/>
            <a:chOff x="4738370" y="3063239"/>
            <a:chExt cx="2237105" cy="2286000"/>
          </a:xfrm>
        </p:grpSpPr>
        <p:pic>
          <p:nvPicPr>
            <p:cNvPr id="17" name="object 17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8370" y="4069079"/>
              <a:ext cx="274320" cy="2743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03546" y="3063239"/>
              <a:ext cx="1971675" cy="2286000"/>
            </a:xfrm>
            <a:custGeom>
              <a:avLst/>
              <a:gdLst/>
              <a:ahLst/>
              <a:cxnLst/>
              <a:rect l="l" t="t" r="r" b="b"/>
              <a:pathLst>
                <a:path w="1971675" h="2286000">
                  <a:moveTo>
                    <a:pt x="1861820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2176272"/>
                  </a:lnTo>
                  <a:lnTo>
                    <a:pt x="8626" y="2218973"/>
                  </a:lnTo>
                  <a:lnTo>
                    <a:pt x="32146" y="2253853"/>
                  </a:lnTo>
                  <a:lnTo>
                    <a:pt x="67026" y="2277373"/>
                  </a:lnTo>
                  <a:lnTo>
                    <a:pt x="109727" y="2286000"/>
                  </a:lnTo>
                  <a:lnTo>
                    <a:pt x="1861820" y="2286000"/>
                  </a:lnTo>
                  <a:lnTo>
                    <a:pt x="1904521" y="2277373"/>
                  </a:lnTo>
                  <a:lnTo>
                    <a:pt x="1939401" y="2253853"/>
                  </a:lnTo>
                  <a:lnTo>
                    <a:pt x="1962921" y="2218973"/>
                  </a:lnTo>
                  <a:lnTo>
                    <a:pt x="1971548" y="2176272"/>
                  </a:lnTo>
                  <a:lnTo>
                    <a:pt x="1971548" y="109727"/>
                  </a:lnTo>
                  <a:lnTo>
                    <a:pt x="1962921" y="67026"/>
                  </a:lnTo>
                  <a:lnTo>
                    <a:pt x="1939401" y="32146"/>
                  </a:lnTo>
                  <a:lnTo>
                    <a:pt x="1904521" y="8626"/>
                  </a:lnTo>
                  <a:lnTo>
                    <a:pt x="186182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assets/icons/bolt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3806" y="3545992"/>
              <a:ext cx="351129" cy="35112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636767" y="4266057"/>
            <a:ext cx="6940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65" b="1">
                <a:solidFill>
                  <a:srgbClr val="05B6D3"/>
                </a:solidFill>
                <a:latin typeface="Calibri"/>
                <a:cs typeface="Calibri"/>
              </a:rPr>
              <a:t>COMPUTE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20588" y="4657725"/>
            <a:ext cx="53848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250" spc="-25">
                <a:solidFill>
                  <a:srgbClr val="0E172A"/>
                </a:solidFill>
                <a:latin typeface="Calibri"/>
                <a:cs typeface="Calibri"/>
              </a:rPr>
              <a:t>AWS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50" spc="-10">
                <a:solidFill>
                  <a:srgbClr val="0E172A"/>
                </a:solidFill>
                <a:latin typeface="Calibri"/>
                <a:cs typeface="Calibri"/>
              </a:rPr>
              <a:t>Lambda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965950" y="3063239"/>
            <a:ext cx="2237105" cy="2286000"/>
            <a:chOff x="6965950" y="3063239"/>
            <a:chExt cx="2237105" cy="2286000"/>
          </a:xfrm>
        </p:grpSpPr>
        <p:pic>
          <p:nvPicPr>
            <p:cNvPr id="23" name="object 23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5950" y="4069079"/>
              <a:ext cx="274320" cy="2743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231125" y="3063239"/>
              <a:ext cx="1971675" cy="2286000"/>
            </a:xfrm>
            <a:custGeom>
              <a:avLst/>
              <a:gdLst/>
              <a:ahLst/>
              <a:cxnLst/>
              <a:rect l="l" t="t" r="r" b="b"/>
              <a:pathLst>
                <a:path w="1971675" h="2286000">
                  <a:moveTo>
                    <a:pt x="1861693" y="0"/>
                  </a:moveTo>
                  <a:lnTo>
                    <a:pt x="109727" y="0"/>
                  </a:lnTo>
                  <a:lnTo>
                    <a:pt x="66972" y="8626"/>
                  </a:lnTo>
                  <a:lnTo>
                    <a:pt x="32099" y="32146"/>
                  </a:lnTo>
                  <a:lnTo>
                    <a:pt x="8608" y="67026"/>
                  </a:lnTo>
                  <a:lnTo>
                    <a:pt x="0" y="109727"/>
                  </a:lnTo>
                  <a:lnTo>
                    <a:pt x="0" y="2176272"/>
                  </a:lnTo>
                  <a:lnTo>
                    <a:pt x="8608" y="2218973"/>
                  </a:lnTo>
                  <a:lnTo>
                    <a:pt x="32099" y="2253853"/>
                  </a:lnTo>
                  <a:lnTo>
                    <a:pt x="66972" y="2277373"/>
                  </a:lnTo>
                  <a:lnTo>
                    <a:pt x="109727" y="2286000"/>
                  </a:lnTo>
                  <a:lnTo>
                    <a:pt x="1861693" y="2286000"/>
                  </a:lnTo>
                  <a:lnTo>
                    <a:pt x="1904394" y="2277373"/>
                  </a:lnTo>
                  <a:lnTo>
                    <a:pt x="1939274" y="2253853"/>
                  </a:lnTo>
                  <a:lnTo>
                    <a:pt x="1962794" y="2218973"/>
                  </a:lnTo>
                  <a:lnTo>
                    <a:pt x="1971421" y="2176272"/>
                  </a:lnTo>
                  <a:lnTo>
                    <a:pt x="1971421" y="109727"/>
                  </a:lnTo>
                  <a:lnTo>
                    <a:pt x="1962794" y="67026"/>
                  </a:lnTo>
                  <a:lnTo>
                    <a:pt x="1939274" y="32146"/>
                  </a:lnTo>
                  <a:lnTo>
                    <a:pt x="1904394" y="8626"/>
                  </a:lnTo>
                  <a:lnTo>
                    <a:pt x="1861693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assets/icons/db_FFFFFF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1258" y="3545992"/>
              <a:ext cx="351129" cy="35112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015478" y="4266057"/>
            <a:ext cx="3905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0" b="1">
                <a:solidFill>
                  <a:srgbClr val="7B39EC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43266" y="4657725"/>
            <a:ext cx="74866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033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0E172A"/>
                </a:solidFill>
                <a:latin typeface="Calibri"/>
                <a:cs typeface="Calibri"/>
              </a:rPr>
              <a:t>Amazon DynamoDB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193403" y="3063239"/>
            <a:ext cx="2237105" cy="2286000"/>
            <a:chOff x="9193403" y="3063239"/>
            <a:chExt cx="2237105" cy="2286000"/>
          </a:xfrm>
        </p:grpSpPr>
        <p:pic>
          <p:nvPicPr>
            <p:cNvPr id="29" name="object 29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3403" y="4069079"/>
              <a:ext cx="274320" cy="27431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458579" y="3063239"/>
              <a:ext cx="1971675" cy="2286000"/>
            </a:xfrm>
            <a:custGeom>
              <a:avLst/>
              <a:gdLst/>
              <a:ahLst/>
              <a:cxnLst/>
              <a:rect l="l" t="t" r="r" b="b"/>
              <a:pathLst>
                <a:path w="1971675" h="2286000">
                  <a:moveTo>
                    <a:pt x="1861693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2176272"/>
                  </a:lnTo>
                  <a:lnTo>
                    <a:pt x="8626" y="2218973"/>
                  </a:lnTo>
                  <a:lnTo>
                    <a:pt x="32146" y="2253853"/>
                  </a:lnTo>
                  <a:lnTo>
                    <a:pt x="67026" y="2277373"/>
                  </a:lnTo>
                  <a:lnTo>
                    <a:pt x="109727" y="2286000"/>
                  </a:lnTo>
                  <a:lnTo>
                    <a:pt x="1861693" y="2286000"/>
                  </a:lnTo>
                  <a:lnTo>
                    <a:pt x="1904394" y="2277373"/>
                  </a:lnTo>
                  <a:lnTo>
                    <a:pt x="1939274" y="2253853"/>
                  </a:lnTo>
                  <a:lnTo>
                    <a:pt x="1962794" y="2218973"/>
                  </a:lnTo>
                  <a:lnTo>
                    <a:pt x="1971421" y="2176272"/>
                  </a:lnTo>
                  <a:lnTo>
                    <a:pt x="1971421" y="109727"/>
                  </a:lnTo>
                  <a:lnTo>
                    <a:pt x="1962794" y="67026"/>
                  </a:lnTo>
                  <a:lnTo>
                    <a:pt x="1939274" y="32146"/>
                  </a:lnTo>
                  <a:lnTo>
                    <a:pt x="1904394" y="8626"/>
                  </a:lnTo>
                  <a:lnTo>
                    <a:pt x="1861693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assets/icons/eye_FFFFFF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68712" y="3545992"/>
              <a:ext cx="351129" cy="35112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093832" y="4266057"/>
            <a:ext cx="6889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65" b="1">
                <a:solidFill>
                  <a:srgbClr val="F87316"/>
                </a:solidFill>
                <a:latin typeface="Calibri"/>
                <a:cs typeface="Calibri"/>
              </a:rPr>
              <a:t>MONITOR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10040239" y="4657725"/>
            <a:ext cx="81153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081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0E172A"/>
                </a:solidFill>
                <a:latin typeface="Calibri"/>
                <a:cs typeface="Calibri"/>
              </a:rPr>
              <a:t>Amazon CloudWatch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54482"/>
            <a:ext cx="19030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P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R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O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J</a:t>
            </a:r>
            <a:r>
              <a:rPr dirty="0" sz="14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C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T</a:t>
            </a:r>
            <a:r>
              <a:rPr dirty="0" sz="1400" spc="35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O</a:t>
            </a:r>
            <a:r>
              <a:rPr dirty="0" sz="14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V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R</a:t>
            </a:r>
            <a:r>
              <a:rPr dirty="0" sz="14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V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I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87316"/>
                </a:solidFill>
                <a:latin typeface="Calibri"/>
                <a:cs typeface="Calibri"/>
              </a:rPr>
              <a:t>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Platform?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7380" y="1475892"/>
            <a:ext cx="984123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3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cloud-hosted</a:t>
            </a:r>
            <a:r>
              <a:rPr dirty="0" sz="135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dashboard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that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lets</a:t>
            </a:r>
            <a:r>
              <a:rPr dirty="0" sz="13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user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monitor</a:t>
            </a:r>
            <a:r>
              <a:rPr dirty="0" sz="13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live</a:t>
            </a:r>
            <a:r>
              <a:rPr dirty="0" sz="13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sensor</a:t>
            </a:r>
            <a:r>
              <a:rPr dirty="0" sz="13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data</a:t>
            </a:r>
            <a:r>
              <a:rPr dirty="0" sz="13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3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remotely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control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smart</a:t>
            </a:r>
            <a:r>
              <a:rPr dirty="0" sz="13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home</a:t>
            </a:r>
            <a:r>
              <a:rPr dirty="0" sz="13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devices</a:t>
            </a:r>
            <a:r>
              <a:rPr dirty="0" sz="135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powered</a:t>
            </a:r>
            <a:r>
              <a:rPr dirty="0" sz="13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end-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to-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end</a:t>
            </a:r>
            <a:r>
              <a:rPr dirty="0" sz="13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by</a:t>
            </a:r>
            <a:r>
              <a:rPr dirty="0" sz="13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63748A"/>
                </a:solidFill>
                <a:latin typeface="Calibri"/>
                <a:cs typeface="Calibri"/>
              </a:rPr>
              <a:t>AWS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managed</a:t>
            </a:r>
            <a:r>
              <a:rPr dirty="0" sz="1350" spc="-7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services.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640" y="2148839"/>
            <a:ext cx="3444240" cy="1783080"/>
            <a:chOff x="548640" y="2148839"/>
            <a:chExt cx="3444240" cy="1783080"/>
          </a:xfrm>
        </p:grpSpPr>
        <p:sp>
          <p:nvSpPr>
            <p:cNvPr id="6" name="object 6"/>
            <p:cNvSpPr/>
            <p:nvPr/>
          </p:nvSpPr>
          <p:spPr>
            <a:xfrm>
              <a:off x="548640" y="2148839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691640"/>
                  </a:lnTo>
                  <a:lnTo>
                    <a:pt x="7184" y="1727251"/>
                  </a:lnTo>
                  <a:lnTo>
                    <a:pt x="26779" y="1756314"/>
                  </a:lnTo>
                  <a:lnTo>
                    <a:pt x="55844" y="1775900"/>
                  </a:lnTo>
                  <a:lnTo>
                    <a:pt x="91439" y="1783080"/>
                  </a:lnTo>
                  <a:lnTo>
                    <a:pt x="3352800" y="1783080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40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assets/icons/lightbulb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806" y="2538044"/>
              <a:ext cx="245795" cy="24579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83411" y="3070351"/>
            <a:ext cx="114173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0E172A"/>
                </a:solidFill>
                <a:latin typeface="Calibri"/>
                <a:cs typeface="Calibri"/>
              </a:rPr>
              <a:t>Device</a:t>
            </a:r>
            <a:r>
              <a:rPr dirty="0" sz="1450" spc="-4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0E172A"/>
                </a:solidFill>
                <a:latin typeface="Calibri"/>
                <a:cs typeface="Calibri"/>
              </a:rPr>
              <a:t>Control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3411" y="3423335"/>
            <a:ext cx="22059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Toggle</a:t>
            </a:r>
            <a:r>
              <a:rPr dirty="0" sz="11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lights,</a:t>
            </a:r>
            <a:r>
              <a:rPr dirty="0" sz="11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fans,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doors,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air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conditioner</a:t>
            </a:r>
            <a:r>
              <a:rPr dirty="0" sz="115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dirty="0" sz="115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one</a:t>
            </a:r>
            <a:r>
              <a:rPr dirty="0" sz="1150" spc="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dashboard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67200" y="2148839"/>
            <a:ext cx="3444240" cy="1783080"/>
            <a:chOff x="4267200" y="2148839"/>
            <a:chExt cx="3444240" cy="1783080"/>
          </a:xfrm>
        </p:grpSpPr>
        <p:sp>
          <p:nvSpPr>
            <p:cNvPr id="11" name="object 11"/>
            <p:cNvSpPr/>
            <p:nvPr/>
          </p:nvSpPr>
          <p:spPr>
            <a:xfrm>
              <a:off x="4267200" y="2148839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40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39" y="1783080"/>
                  </a:lnTo>
                  <a:lnTo>
                    <a:pt x="3352800" y="1783080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40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assets/icons/ey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6327" y="2538044"/>
              <a:ext cx="245795" cy="24579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02607" y="3070351"/>
            <a:ext cx="128905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0E172A"/>
                </a:solidFill>
                <a:latin typeface="Calibri"/>
                <a:cs typeface="Calibri"/>
              </a:rPr>
              <a:t>Live</a:t>
            </a:r>
            <a:r>
              <a:rPr dirty="0" sz="1450" spc="-4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0E172A"/>
                </a:solidFill>
                <a:latin typeface="Calibri"/>
                <a:cs typeface="Calibri"/>
              </a:rPr>
              <a:t>Sensor</a:t>
            </a:r>
            <a:r>
              <a:rPr dirty="0" sz="1450" spc="-4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0E172A"/>
                </a:solidFill>
                <a:latin typeface="Calibri"/>
                <a:cs typeface="Calibri"/>
              </a:rPr>
              <a:t>Feed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02607" y="3423335"/>
            <a:ext cx="25419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Real-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time</a:t>
            </a:r>
            <a:r>
              <a:rPr dirty="0" sz="115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temperature,</a:t>
            </a:r>
            <a:r>
              <a:rPr dirty="0" sz="1150" spc="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humidity,</a:t>
            </a:r>
            <a:r>
              <a:rPr dirty="0" sz="115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gas,</a:t>
            </a:r>
            <a:r>
              <a:rPr dirty="0" sz="115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motion</a:t>
            </a:r>
            <a:r>
              <a:rPr dirty="0" sz="11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readings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85759" y="2148839"/>
            <a:ext cx="3444240" cy="1783080"/>
            <a:chOff x="7985759" y="2148839"/>
            <a:chExt cx="3444240" cy="1783080"/>
          </a:xfrm>
        </p:grpSpPr>
        <p:sp>
          <p:nvSpPr>
            <p:cNvPr id="16" name="object 16"/>
            <p:cNvSpPr/>
            <p:nvPr/>
          </p:nvSpPr>
          <p:spPr>
            <a:xfrm>
              <a:off x="7985759" y="2148839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40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40" y="1783080"/>
                  </a:lnTo>
                  <a:lnTo>
                    <a:pt x="3352800" y="1783080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40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assets/icons/bolt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4887" y="2538044"/>
              <a:ext cx="245795" cy="24579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321802" y="3070351"/>
            <a:ext cx="157353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 b="1">
                <a:solidFill>
                  <a:srgbClr val="0E172A"/>
                </a:solidFill>
                <a:latin typeface="Calibri"/>
                <a:cs typeface="Calibri"/>
              </a:rPr>
              <a:t>Automated</a:t>
            </a:r>
            <a:r>
              <a:rPr dirty="0" sz="1450" spc="-2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0E172A"/>
                </a:solidFill>
                <a:latin typeface="Calibri"/>
                <a:cs typeface="Calibri"/>
              </a:rPr>
              <a:t>Backend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21802" y="3423335"/>
            <a:ext cx="27235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AWS</a:t>
            </a:r>
            <a:r>
              <a:rPr dirty="0" sz="115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Lambda</a:t>
            </a:r>
            <a:r>
              <a:rPr dirty="0" sz="11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processes</a:t>
            </a:r>
            <a:r>
              <a:rPr dirty="0" sz="11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request</a:t>
            </a:r>
            <a:r>
              <a:rPr dirty="0" sz="11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behind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r>
              <a:rPr dirty="0" sz="11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Gateway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8640" y="4160520"/>
            <a:ext cx="3444240" cy="1783080"/>
            <a:chOff x="548640" y="4160520"/>
            <a:chExt cx="3444240" cy="1783080"/>
          </a:xfrm>
        </p:grpSpPr>
        <p:sp>
          <p:nvSpPr>
            <p:cNvPr id="21" name="object 21"/>
            <p:cNvSpPr/>
            <p:nvPr/>
          </p:nvSpPr>
          <p:spPr>
            <a:xfrm>
              <a:off x="548640" y="416052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84" y="1727235"/>
                  </a:lnTo>
                  <a:lnTo>
                    <a:pt x="26779" y="1756300"/>
                  </a:lnTo>
                  <a:lnTo>
                    <a:pt x="55844" y="1775895"/>
                  </a:lnTo>
                  <a:lnTo>
                    <a:pt x="91439" y="1783079"/>
                  </a:lnTo>
                  <a:lnTo>
                    <a:pt x="3352800" y="1783079"/>
                  </a:lnTo>
                  <a:lnTo>
                    <a:pt x="3388411" y="1775895"/>
                  </a:lnTo>
                  <a:lnTo>
                    <a:pt x="3417474" y="1756300"/>
                  </a:lnTo>
                  <a:lnTo>
                    <a:pt x="3437060" y="1727235"/>
                  </a:lnTo>
                  <a:lnTo>
                    <a:pt x="3444240" y="1691639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assets/icons/db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806" y="4549724"/>
              <a:ext cx="245795" cy="24579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83411" y="5082285"/>
            <a:ext cx="121412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 b="1">
                <a:solidFill>
                  <a:srgbClr val="0E172A"/>
                </a:solidFill>
                <a:latin typeface="Calibri"/>
                <a:cs typeface="Calibri"/>
              </a:rPr>
              <a:t>Persistent</a:t>
            </a:r>
            <a:r>
              <a:rPr dirty="0" sz="1450" spc="-4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0E172A"/>
                </a:solidFill>
                <a:latin typeface="Calibri"/>
                <a:cs typeface="Calibri"/>
              </a:rPr>
              <a:t>State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3411" y="5435600"/>
            <a:ext cx="25012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status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1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sensor</a:t>
            </a:r>
            <a:r>
              <a:rPr dirty="0" sz="11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history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stored</a:t>
            </a:r>
            <a:r>
              <a:rPr dirty="0" sz="11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in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DynamoDB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67200" y="4160520"/>
            <a:ext cx="3444240" cy="1783080"/>
            <a:chOff x="4267200" y="4160520"/>
            <a:chExt cx="3444240" cy="1783080"/>
          </a:xfrm>
        </p:grpSpPr>
        <p:sp>
          <p:nvSpPr>
            <p:cNvPr id="26" name="object 26"/>
            <p:cNvSpPr/>
            <p:nvPr/>
          </p:nvSpPr>
          <p:spPr>
            <a:xfrm>
              <a:off x="4267200" y="416052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79" y="1727235"/>
                  </a:lnTo>
                  <a:lnTo>
                    <a:pt x="26765" y="1756300"/>
                  </a:lnTo>
                  <a:lnTo>
                    <a:pt x="55828" y="1775895"/>
                  </a:lnTo>
                  <a:lnTo>
                    <a:pt x="91439" y="1783079"/>
                  </a:lnTo>
                  <a:lnTo>
                    <a:pt x="3352800" y="1783079"/>
                  </a:lnTo>
                  <a:lnTo>
                    <a:pt x="3388411" y="1775895"/>
                  </a:lnTo>
                  <a:lnTo>
                    <a:pt x="3417474" y="1756300"/>
                  </a:lnTo>
                  <a:lnTo>
                    <a:pt x="3437060" y="1727235"/>
                  </a:lnTo>
                  <a:lnTo>
                    <a:pt x="3444240" y="1691639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assets/icons/chart_FFFFFF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6327" y="4549724"/>
              <a:ext cx="245795" cy="24579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602607" y="5082285"/>
            <a:ext cx="122999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0E172A"/>
                </a:solidFill>
                <a:latin typeface="Calibri"/>
                <a:cs typeface="Calibri"/>
              </a:rPr>
              <a:t>Activity</a:t>
            </a:r>
            <a:r>
              <a:rPr dirty="0" sz="1450" spc="-3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0E172A"/>
                </a:solidFill>
                <a:latin typeface="Calibri"/>
                <a:cs typeface="Calibri"/>
              </a:rPr>
              <a:t>Logging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02607" y="5435600"/>
            <a:ext cx="26339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Live-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updating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temperature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chart</a:t>
            </a:r>
            <a:r>
              <a:rPr dirty="0" sz="11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150" spc="-5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recent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activity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log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985759" y="4160520"/>
            <a:ext cx="3444240" cy="1783080"/>
            <a:chOff x="7985759" y="4160520"/>
            <a:chExt cx="3444240" cy="1783080"/>
          </a:xfrm>
        </p:grpSpPr>
        <p:sp>
          <p:nvSpPr>
            <p:cNvPr id="31" name="object 31"/>
            <p:cNvSpPr/>
            <p:nvPr/>
          </p:nvSpPr>
          <p:spPr>
            <a:xfrm>
              <a:off x="7985759" y="416052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79" y="1727235"/>
                  </a:lnTo>
                  <a:lnTo>
                    <a:pt x="26765" y="1756300"/>
                  </a:lnTo>
                  <a:lnTo>
                    <a:pt x="55828" y="1775895"/>
                  </a:lnTo>
                  <a:lnTo>
                    <a:pt x="91440" y="1783079"/>
                  </a:lnTo>
                  <a:lnTo>
                    <a:pt x="3352800" y="1783079"/>
                  </a:lnTo>
                  <a:lnTo>
                    <a:pt x="3388411" y="1775895"/>
                  </a:lnTo>
                  <a:lnTo>
                    <a:pt x="3417474" y="1756300"/>
                  </a:lnTo>
                  <a:lnTo>
                    <a:pt x="3437060" y="1727235"/>
                  </a:lnTo>
                  <a:lnTo>
                    <a:pt x="3444240" y="1691639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assets/icons/shield_FFFFFF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74887" y="4549724"/>
              <a:ext cx="245795" cy="24579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21802" y="5082285"/>
            <a:ext cx="131635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0E172A"/>
                </a:solidFill>
                <a:latin typeface="Calibri"/>
                <a:cs typeface="Calibri"/>
              </a:rPr>
              <a:t>Secure</a:t>
            </a:r>
            <a:r>
              <a:rPr dirty="0" sz="1450" spc="-5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0E172A"/>
                </a:solidFill>
                <a:latin typeface="Calibri"/>
                <a:cs typeface="Calibri"/>
              </a:rPr>
              <a:t>by</a:t>
            </a:r>
            <a:r>
              <a:rPr dirty="0" sz="1450" spc="-3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0E172A"/>
                </a:solidFill>
                <a:latin typeface="Calibri"/>
                <a:cs typeface="Calibri"/>
              </a:rPr>
              <a:t>Design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8321802" y="5435600"/>
            <a:ext cx="26396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IAM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least-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privilege</a:t>
            </a:r>
            <a:r>
              <a:rPr dirty="0" sz="11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access</a:t>
            </a:r>
            <a:r>
              <a:rPr dirty="0" sz="11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across</a:t>
            </a:r>
            <a:r>
              <a:rPr dirty="0" sz="11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every 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AWS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service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54482"/>
            <a:ext cx="1522730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05B6D3"/>
                </a:solidFill>
              </a:rPr>
              <a:t>S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Y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S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T</a:t>
            </a:r>
            <a:r>
              <a:rPr dirty="0" sz="1400" spc="-11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M</a:t>
            </a:r>
            <a:r>
              <a:rPr dirty="0" sz="1400" spc="36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D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S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I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G</a:t>
            </a:r>
            <a:r>
              <a:rPr dirty="0" sz="1400" spc="-105">
                <a:solidFill>
                  <a:srgbClr val="05B6D3"/>
                </a:solidFill>
              </a:rPr>
              <a:t> </a:t>
            </a:r>
            <a:r>
              <a:rPr dirty="0" sz="1400" spc="-50">
                <a:solidFill>
                  <a:srgbClr val="05B6D3"/>
                </a:solidFill>
              </a:rPr>
              <a:t>N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627380" y="918717"/>
            <a:ext cx="9114155" cy="873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solidFill>
                  <a:srgbClr val="0E172A"/>
                </a:solidFill>
                <a:latin typeface="Calibri"/>
                <a:cs typeface="Calibri"/>
              </a:rPr>
              <a:t>End-</a:t>
            </a:r>
            <a:r>
              <a:rPr dirty="0" sz="3000" spc="-10" b="1">
                <a:solidFill>
                  <a:srgbClr val="0E172A"/>
                </a:solidFill>
                <a:latin typeface="Calibri"/>
                <a:cs typeface="Calibri"/>
              </a:rPr>
              <a:t>to-</a:t>
            </a: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End</a:t>
            </a:r>
            <a:r>
              <a:rPr dirty="0" sz="3000" spc="-3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E172A"/>
                </a:solidFill>
                <a:latin typeface="Calibri"/>
                <a:cs typeface="Calibri"/>
              </a:rPr>
              <a:t>Architecture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3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serverless,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 event-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driven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flow</a:t>
            </a:r>
            <a:r>
              <a:rPr dirty="0" sz="13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—</a:t>
            </a:r>
            <a:r>
              <a:rPr dirty="0" sz="13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browser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dashboard</a:t>
            </a:r>
            <a:r>
              <a:rPr dirty="0" sz="13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through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63748A"/>
                </a:solidFill>
                <a:latin typeface="Calibri"/>
                <a:cs typeface="Calibri"/>
              </a:rPr>
              <a:t>Gateway,</a:t>
            </a:r>
            <a:r>
              <a:rPr dirty="0" sz="13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Lambda,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dirty="0" sz="13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into</a:t>
            </a:r>
            <a:r>
              <a:rPr dirty="0" sz="13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AWS</a:t>
            </a:r>
            <a:r>
              <a:rPr dirty="0" sz="13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storage</a:t>
            </a:r>
            <a:r>
              <a:rPr dirty="0" sz="13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3748A"/>
                </a:solidFill>
                <a:latin typeface="Calibri"/>
                <a:cs typeface="Calibri"/>
              </a:rPr>
              <a:t>&amp;</a:t>
            </a:r>
            <a:r>
              <a:rPr dirty="0" sz="13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3748A"/>
                </a:solidFill>
                <a:latin typeface="Calibri"/>
                <a:cs typeface="Calibri"/>
              </a:rPr>
              <a:t>monitoring.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2514600"/>
            <a:ext cx="1783080" cy="1417320"/>
            <a:chOff x="548640" y="2514600"/>
            <a:chExt cx="1783080" cy="1417320"/>
          </a:xfrm>
        </p:grpSpPr>
        <p:sp>
          <p:nvSpPr>
            <p:cNvPr id="5" name="object 5"/>
            <p:cNvSpPr/>
            <p:nvPr/>
          </p:nvSpPr>
          <p:spPr>
            <a:xfrm>
              <a:off x="548640" y="2514600"/>
              <a:ext cx="1783080" cy="1417320"/>
            </a:xfrm>
            <a:custGeom>
              <a:avLst/>
              <a:gdLst/>
              <a:ahLst/>
              <a:cxnLst/>
              <a:rect l="l" t="t" r="r" b="b"/>
              <a:pathLst>
                <a:path w="1783080" h="1417320">
                  <a:moveTo>
                    <a:pt x="167335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1307592"/>
                  </a:lnTo>
                  <a:lnTo>
                    <a:pt x="8622" y="1350293"/>
                  </a:lnTo>
                  <a:lnTo>
                    <a:pt x="32137" y="1385173"/>
                  </a:lnTo>
                  <a:lnTo>
                    <a:pt x="67015" y="1408693"/>
                  </a:lnTo>
                  <a:lnTo>
                    <a:pt x="109728" y="1417320"/>
                  </a:lnTo>
                  <a:lnTo>
                    <a:pt x="1673352" y="1417320"/>
                  </a:lnTo>
                  <a:lnTo>
                    <a:pt x="1716053" y="1408693"/>
                  </a:lnTo>
                  <a:lnTo>
                    <a:pt x="1750933" y="1385173"/>
                  </a:lnTo>
                  <a:lnTo>
                    <a:pt x="1774453" y="1350293"/>
                  </a:lnTo>
                  <a:lnTo>
                    <a:pt x="1783079" y="1307592"/>
                  </a:lnTo>
                  <a:lnTo>
                    <a:pt x="1783079" y="109727"/>
                  </a:lnTo>
                  <a:lnTo>
                    <a:pt x="1774453" y="67026"/>
                  </a:lnTo>
                  <a:lnTo>
                    <a:pt x="1750933" y="32146"/>
                  </a:lnTo>
                  <a:lnTo>
                    <a:pt x="1716053" y="8626"/>
                  </a:lnTo>
                  <a:lnTo>
                    <a:pt x="167335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assets/icons/users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7244" y="2830652"/>
              <a:ext cx="245795" cy="24579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74800" y="3367278"/>
            <a:ext cx="531495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12395">
              <a:lnSpc>
                <a:spcPct val="100899"/>
              </a:lnSpc>
              <a:spcBef>
                <a:spcPts val="90"/>
              </a:spcBef>
            </a:pPr>
            <a:r>
              <a:rPr dirty="0" sz="1150" spc="-20" b="1">
                <a:solidFill>
                  <a:srgbClr val="0E172A"/>
                </a:solidFill>
                <a:latin typeface="Calibri"/>
                <a:cs typeface="Calibri"/>
              </a:rPr>
              <a:t>User </a:t>
            </a:r>
            <a:r>
              <a:rPr dirty="0" sz="1150" spc="-10" b="1">
                <a:solidFill>
                  <a:srgbClr val="0E172A"/>
                </a:solidFill>
                <a:latin typeface="Calibri"/>
                <a:cs typeface="Calibri"/>
              </a:rPr>
              <a:t>Browser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77439" y="2514600"/>
            <a:ext cx="2011680" cy="1417320"/>
            <a:chOff x="2377439" y="2514600"/>
            <a:chExt cx="2011680" cy="1417320"/>
          </a:xfrm>
        </p:grpSpPr>
        <p:pic>
          <p:nvPicPr>
            <p:cNvPr id="9" name="object 9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7439" y="3136624"/>
              <a:ext cx="209537" cy="177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06039" y="2514600"/>
              <a:ext cx="1783080" cy="1417320"/>
            </a:xfrm>
            <a:custGeom>
              <a:avLst/>
              <a:gdLst/>
              <a:ahLst/>
              <a:cxnLst/>
              <a:rect l="l" t="t" r="r" b="b"/>
              <a:pathLst>
                <a:path w="1783079" h="1417320">
                  <a:moveTo>
                    <a:pt x="1673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307592"/>
                  </a:lnTo>
                  <a:lnTo>
                    <a:pt x="8626" y="1350293"/>
                  </a:lnTo>
                  <a:lnTo>
                    <a:pt x="32146" y="1385173"/>
                  </a:lnTo>
                  <a:lnTo>
                    <a:pt x="67026" y="1408693"/>
                  </a:lnTo>
                  <a:lnTo>
                    <a:pt x="109728" y="1417320"/>
                  </a:lnTo>
                  <a:lnTo>
                    <a:pt x="1673352" y="1417320"/>
                  </a:lnTo>
                  <a:lnTo>
                    <a:pt x="1716053" y="1408693"/>
                  </a:lnTo>
                  <a:lnTo>
                    <a:pt x="1750933" y="1385173"/>
                  </a:lnTo>
                  <a:lnTo>
                    <a:pt x="1774453" y="1350293"/>
                  </a:lnTo>
                  <a:lnTo>
                    <a:pt x="1783080" y="1307592"/>
                  </a:lnTo>
                  <a:lnTo>
                    <a:pt x="1783080" y="109727"/>
                  </a:lnTo>
                  <a:lnTo>
                    <a:pt x="1774453" y="67026"/>
                  </a:lnTo>
                  <a:lnTo>
                    <a:pt x="1750933" y="32146"/>
                  </a:lnTo>
                  <a:lnTo>
                    <a:pt x="1716053" y="8626"/>
                  </a:lnTo>
                  <a:lnTo>
                    <a:pt x="167335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assets/icons/house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4643" y="2830652"/>
              <a:ext cx="245795" cy="24579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04133" y="3367278"/>
            <a:ext cx="787400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0165">
              <a:lnSpc>
                <a:spcPct val="100899"/>
              </a:lnSpc>
              <a:spcBef>
                <a:spcPts val="90"/>
              </a:spcBef>
            </a:pPr>
            <a:r>
              <a:rPr dirty="0" sz="1150" spc="-10" b="1">
                <a:solidFill>
                  <a:srgbClr val="0E172A"/>
                </a:solidFill>
                <a:latin typeface="Calibri"/>
                <a:cs typeface="Calibri"/>
              </a:rPr>
              <a:t>Dashboard </a:t>
            </a:r>
            <a:r>
              <a:rPr dirty="0" sz="1150" b="1">
                <a:solidFill>
                  <a:srgbClr val="0E172A"/>
                </a:solidFill>
                <a:latin typeface="Calibri"/>
                <a:cs typeface="Calibri"/>
              </a:rPr>
              <a:t>(Amazon</a:t>
            </a:r>
            <a:r>
              <a:rPr dirty="0" sz="1150" spc="-1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150" spc="-25" b="1">
                <a:solidFill>
                  <a:srgbClr val="0E172A"/>
                </a:solidFill>
                <a:latin typeface="Calibri"/>
                <a:cs typeface="Calibri"/>
              </a:rPr>
              <a:t>S3)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34840" y="2514600"/>
            <a:ext cx="2011680" cy="1417320"/>
            <a:chOff x="4434840" y="2514600"/>
            <a:chExt cx="2011680" cy="1417320"/>
          </a:xfrm>
        </p:grpSpPr>
        <p:pic>
          <p:nvPicPr>
            <p:cNvPr id="14" name="object 14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4840" y="3136624"/>
              <a:ext cx="209537" cy="177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40" y="2514600"/>
              <a:ext cx="1783080" cy="1417320"/>
            </a:xfrm>
            <a:custGeom>
              <a:avLst/>
              <a:gdLst/>
              <a:ahLst/>
              <a:cxnLst/>
              <a:rect l="l" t="t" r="r" b="b"/>
              <a:pathLst>
                <a:path w="1783079" h="1417320">
                  <a:moveTo>
                    <a:pt x="1673352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307592"/>
                  </a:lnTo>
                  <a:lnTo>
                    <a:pt x="8626" y="1350293"/>
                  </a:lnTo>
                  <a:lnTo>
                    <a:pt x="32146" y="1385173"/>
                  </a:lnTo>
                  <a:lnTo>
                    <a:pt x="67026" y="1408693"/>
                  </a:lnTo>
                  <a:lnTo>
                    <a:pt x="109727" y="1417320"/>
                  </a:lnTo>
                  <a:lnTo>
                    <a:pt x="1673352" y="1417320"/>
                  </a:lnTo>
                  <a:lnTo>
                    <a:pt x="1716053" y="1408693"/>
                  </a:lnTo>
                  <a:lnTo>
                    <a:pt x="1750933" y="1385173"/>
                  </a:lnTo>
                  <a:lnTo>
                    <a:pt x="1774453" y="1350293"/>
                  </a:lnTo>
                  <a:lnTo>
                    <a:pt x="1783080" y="1307592"/>
                  </a:lnTo>
                  <a:lnTo>
                    <a:pt x="1783080" y="109727"/>
                  </a:lnTo>
                  <a:lnTo>
                    <a:pt x="1774453" y="67026"/>
                  </a:lnTo>
                  <a:lnTo>
                    <a:pt x="1750933" y="32146"/>
                  </a:lnTo>
                  <a:lnTo>
                    <a:pt x="1716053" y="8626"/>
                  </a:lnTo>
                  <a:lnTo>
                    <a:pt x="167335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assets/icons/network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2044" y="2830652"/>
              <a:ext cx="245795" cy="24579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030851" y="3367278"/>
            <a:ext cx="1048385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23189">
              <a:lnSpc>
                <a:spcPct val="100899"/>
              </a:lnSpc>
              <a:spcBef>
                <a:spcPts val="90"/>
              </a:spcBef>
            </a:pPr>
            <a:r>
              <a:rPr dirty="0" sz="1150" b="1">
                <a:solidFill>
                  <a:srgbClr val="0E172A"/>
                </a:solidFill>
                <a:latin typeface="Calibri"/>
                <a:cs typeface="Calibri"/>
              </a:rPr>
              <a:t>API</a:t>
            </a:r>
            <a:r>
              <a:rPr dirty="0" sz="1150" spc="-2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E172A"/>
                </a:solidFill>
                <a:latin typeface="Calibri"/>
                <a:cs typeface="Calibri"/>
              </a:rPr>
              <a:t>Gateway (SmartHomeAPI)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92240" y="2514600"/>
            <a:ext cx="2011680" cy="1417320"/>
            <a:chOff x="6492240" y="2514600"/>
            <a:chExt cx="2011680" cy="1417320"/>
          </a:xfrm>
        </p:grpSpPr>
        <p:pic>
          <p:nvPicPr>
            <p:cNvPr id="19" name="object 19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2240" y="3136624"/>
              <a:ext cx="209537" cy="1773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20840" y="2514600"/>
              <a:ext cx="1783080" cy="1417320"/>
            </a:xfrm>
            <a:custGeom>
              <a:avLst/>
              <a:gdLst/>
              <a:ahLst/>
              <a:cxnLst/>
              <a:rect l="l" t="t" r="r" b="b"/>
              <a:pathLst>
                <a:path w="1783079" h="1417320">
                  <a:moveTo>
                    <a:pt x="1673352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307592"/>
                  </a:lnTo>
                  <a:lnTo>
                    <a:pt x="8626" y="1350293"/>
                  </a:lnTo>
                  <a:lnTo>
                    <a:pt x="32146" y="1385173"/>
                  </a:lnTo>
                  <a:lnTo>
                    <a:pt x="67026" y="1408693"/>
                  </a:lnTo>
                  <a:lnTo>
                    <a:pt x="109727" y="1417320"/>
                  </a:lnTo>
                  <a:lnTo>
                    <a:pt x="1673352" y="1417320"/>
                  </a:lnTo>
                  <a:lnTo>
                    <a:pt x="1716053" y="1408693"/>
                  </a:lnTo>
                  <a:lnTo>
                    <a:pt x="1750933" y="1385173"/>
                  </a:lnTo>
                  <a:lnTo>
                    <a:pt x="1774453" y="1350293"/>
                  </a:lnTo>
                  <a:lnTo>
                    <a:pt x="1783079" y="1307592"/>
                  </a:lnTo>
                  <a:lnTo>
                    <a:pt x="1783079" y="109727"/>
                  </a:lnTo>
                  <a:lnTo>
                    <a:pt x="1774453" y="67026"/>
                  </a:lnTo>
                  <a:lnTo>
                    <a:pt x="1750933" y="32146"/>
                  </a:lnTo>
                  <a:lnTo>
                    <a:pt x="1716053" y="8626"/>
                  </a:lnTo>
                  <a:lnTo>
                    <a:pt x="167335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assets/icons/bolt_FFFFFF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9444" y="2830652"/>
              <a:ext cx="245795" cy="24579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198232" y="3367278"/>
            <a:ext cx="830580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0480" marR="5080" indent="-18415">
              <a:lnSpc>
                <a:spcPct val="100899"/>
              </a:lnSpc>
              <a:spcBef>
                <a:spcPts val="90"/>
              </a:spcBef>
            </a:pPr>
            <a:r>
              <a:rPr dirty="0" sz="1150" b="1">
                <a:solidFill>
                  <a:srgbClr val="0E172A"/>
                </a:solidFill>
                <a:latin typeface="Calibri"/>
                <a:cs typeface="Calibri"/>
              </a:rPr>
              <a:t>AWS</a:t>
            </a:r>
            <a:r>
              <a:rPr dirty="0" sz="1150" spc="-2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E172A"/>
                </a:solidFill>
                <a:latin typeface="Calibri"/>
                <a:cs typeface="Calibri"/>
              </a:rPr>
              <a:t>Lambda </a:t>
            </a:r>
            <a:r>
              <a:rPr dirty="0" sz="1150" b="1">
                <a:solidFill>
                  <a:srgbClr val="0E172A"/>
                </a:solidFill>
                <a:latin typeface="Calibri"/>
                <a:cs typeface="Calibri"/>
              </a:rPr>
              <a:t>(3</a:t>
            </a:r>
            <a:r>
              <a:rPr dirty="0" sz="1150" spc="-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E172A"/>
                </a:solidFill>
                <a:latin typeface="Calibri"/>
                <a:cs typeface="Calibri"/>
              </a:rPr>
              <a:t>functions)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49640" y="2514600"/>
            <a:ext cx="2011680" cy="1417320"/>
            <a:chOff x="8549640" y="2514600"/>
            <a:chExt cx="2011680" cy="1417320"/>
          </a:xfrm>
        </p:grpSpPr>
        <p:pic>
          <p:nvPicPr>
            <p:cNvPr id="24" name="object 24" descr="assets/icons/arrowRight_64748B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49640" y="3136624"/>
              <a:ext cx="209537" cy="1773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778240" y="2514600"/>
              <a:ext cx="1783080" cy="1417320"/>
            </a:xfrm>
            <a:custGeom>
              <a:avLst/>
              <a:gdLst/>
              <a:ahLst/>
              <a:cxnLst/>
              <a:rect l="l" t="t" r="r" b="b"/>
              <a:pathLst>
                <a:path w="1783079" h="1417320">
                  <a:moveTo>
                    <a:pt x="1673352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307592"/>
                  </a:lnTo>
                  <a:lnTo>
                    <a:pt x="8626" y="1350293"/>
                  </a:lnTo>
                  <a:lnTo>
                    <a:pt x="32146" y="1385173"/>
                  </a:lnTo>
                  <a:lnTo>
                    <a:pt x="67026" y="1408693"/>
                  </a:lnTo>
                  <a:lnTo>
                    <a:pt x="109727" y="1417320"/>
                  </a:lnTo>
                  <a:lnTo>
                    <a:pt x="1673352" y="1417320"/>
                  </a:lnTo>
                  <a:lnTo>
                    <a:pt x="1716053" y="1408693"/>
                  </a:lnTo>
                  <a:lnTo>
                    <a:pt x="1750933" y="1385173"/>
                  </a:lnTo>
                  <a:lnTo>
                    <a:pt x="1774453" y="1350293"/>
                  </a:lnTo>
                  <a:lnTo>
                    <a:pt x="1783079" y="1307592"/>
                  </a:lnTo>
                  <a:lnTo>
                    <a:pt x="1783079" y="109727"/>
                  </a:lnTo>
                  <a:lnTo>
                    <a:pt x="1774453" y="67026"/>
                  </a:lnTo>
                  <a:lnTo>
                    <a:pt x="1750933" y="32146"/>
                  </a:lnTo>
                  <a:lnTo>
                    <a:pt x="1716053" y="8626"/>
                  </a:lnTo>
                  <a:lnTo>
                    <a:pt x="167335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assets/icons/db_FFFFFF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46844" y="2830652"/>
              <a:ext cx="245795" cy="24579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263633" y="3367278"/>
            <a:ext cx="813435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1435">
              <a:lnSpc>
                <a:spcPct val="100899"/>
              </a:lnSpc>
              <a:spcBef>
                <a:spcPts val="90"/>
              </a:spcBef>
            </a:pPr>
            <a:r>
              <a:rPr dirty="0" sz="1150" spc="-10" b="1">
                <a:solidFill>
                  <a:srgbClr val="0E172A"/>
                </a:solidFill>
                <a:latin typeface="Calibri"/>
                <a:cs typeface="Calibri"/>
              </a:rPr>
              <a:t>DynamoDB </a:t>
            </a:r>
            <a:r>
              <a:rPr dirty="0" sz="1150" b="1">
                <a:solidFill>
                  <a:srgbClr val="0E172A"/>
                </a:solidFill>
                <a:latin typeface="Calibri"/>
                <a:cs typeface="Calibri"/>
              </a:rPr>
              <a:t>(device</a:t>
            </a:r>
            <a:r>
              <a:rPr dirty="0" sz="1150" spc="-3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E172A"/>
                </a:solidFill>
                <a:latin typeface="Calibri"/>
                <a:cs typeface="Calibri"/>
              </a:rPr>
              <a:t>data)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720840" y="4343400"/>
            <a:ext cx="1783080" cy="960119"/>
            <a:chOff x="6720840" y="4343400"/>
            <a:chExt cx="1783080" cy="960119"/>
          </a:xfrm>
        </p:grpSpPr>
        <p:sp>
          <p:nvSpPr>
            <p:cNvPr id="29" name="object 29"/>
            <p:cNvSpPr/>
            <p:nvPr/>
          </p:nvSpPr>
          <p:spPr>
            <a:xfrm>
              <a:off x="6720840" y="4343400"/>
              <a:ext cx="1783080" cy="960119"/>
            </a:xfrm>
            <a:custGeom>
              <a:avLst/>
              <a:gdLst/>
              <a:ahLst/>
              <a:cxnLst/>
              <a:rect l="l" t="t" r="r" b="b"/>
              <a:pathLst>
                <a:path w="1783079" h="960120">
                  <a:moveTo>
                    <a:pt x="1691639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179" y="904291"/>
                  </a:lnTo>
                  <a:lnTo>
                    <a:pt x="26765" y="933354"/>
                  </a:lnTo>
                  <a:lnTo>
                    <a:pt x="55828" y="952940"/>
                  </a:lnTo>
                  <a:lnTo>
                    <a:pt x="91439" y="960119"/>
                  </a:lnTo>
                  <a:lnTo>
                    <a:pt x="1691639" y="960119"/>
                  </a:lnTo>
                  <a:lnTo>
                    <a:pt x="1727251" y="952940"/>
                  </a:lnTo>
                  <a:lnTo>
                    <a:pt x="1756314" y="933354"/>
                  </a:lnTo>
                  <a:lnTo>
                    <a:pt x="1775900" y="904291"/>
                  </a:lnTo>
                  <a:lnTo>
                    <a:pt x="1783079" y="868680"/>
                  </a:lnTo>
                  <a:lnTo>
                    <a:pt x="1783079" y="91439"/>
                  </a:lnTo>
                  <a:lnTo>
                    <a:pt x="1775900" y="55828"/>
                  </a:lnTo>
                  <a:lnTo>
                    <a:pt x="1756314" y="26765"/>
                  </a:lnTo>
                  <a:lnTo>
                    <a:pt x="1727251" y="7179"/>
                  </a:lnTo>
                  <a:lnTo>
                    <a:pt x="1691639" y="0"/>
                  </a:lnTo>
                  <a:close/>
                </a:path>
              </a:pathLst>
            </a:custGeom>
            <a:solidFill>
              <a:srgbClr val="FFF7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assets/icons/eye_FFFFFF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4623" y="4575632"/>
              <a:ext cx="175564" cy="17556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088505" y="4907660"/>
            <a:ext cx="1049655" cy="33909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70180">
              <a:lnSpc>
                <a:spcPts val="1200"/>
              </a:lnSpc>
              <a:spcBef>
                <a:spcPts val="195"/>
              </a:spcBef>
            </a:pPr>
            <a:r>
              <a:rPr dirty="0" sz="1050" spc="-10" b="1">
                <a:solidFill>
                  <a:srgbClr val="F87316"/>
                </a:solidFill>
                <a:latin typeface="Calibri"/>
                <a:cs typeface="Calibri"/>
              </a:rPr>
              <a:t>CloudWatch Monitoring</a:t>
            </a:r>
            <a:r>
              <a:rPr dirty="0" sz="1050" spc="-5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87316"/>
                </a:solidFill>
                <a:latin typeface="Calibri"/>
                <a:cs typeface="Calibri"/>
              </a:rPr>
              <a:t>&amp;</a:t>
            </a:r>
            <a:r>
              <a:rPr dirty="0" sz="1050" spc="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F87316"/>
                </a:solidFill>
                <a:latin typeface="Calibri"/>
                <a:cs typeface="Calibri"/>
              </a:rPr>
              <a:t>Logs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607807" y="393192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79">
                <a:moveTo>
                  <a:pt x="0" y="0"/>
                </a:moveTo>
                <a:lnTo>
                  <a:pt x="0" y="411479"/>
                </a:lnTo>
              </a:path>
            </a:pathLst>
          </a:custGeom>
          <a:ln w="15875">
            <a:solidFill>
              <a:srgbClr val="F8731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2606039" y="4343400"/>
            <a:ext cx="1783080" cy="960119"/>
            <a:chOff x="2606039" y="4343400"/>
            <a:chExt cx="1783080" cy="960119"/>
          </a:xfrm>
        </p:grpSpPr>
        <p:sp>
          <p:nvSpPr>
            <p:cNvPr id="34" name="object 34"/>
            <p:cNvSpPr/>
            <p:nvPr/>
          </p:nvSpPr>
          <p:spPr>
            <a:xfrm>
              <a:off x="2606039" y="4343400"/>
              <a:ext cx="1783080" cy="960119"/>
            </a:xfrm>
            <a:custGeom>
              <a:avLst/>
              <a:gdLst/>
              <a:ahLst/>
              <a:cxnLst/>
              <a:rect l="l" t="t" r="r" b="b"/>
              <a:pathLst>
                <a:path w="1783079" h="960120">
                  <a:moveTo>
                    <a:pt x="169163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179" y="904291"/>
                  </a:lnTo>
                  <a:lnTo>
                    <a:pt x="26765" y="933354"/>
                  </a:lnTo>
                  <a:lnTo>
                    <a:pt x="55828" y="952940"/>
                  </a:lnTo>
                  <a:lnTo>
                    <a:pt x="91440" y="960119"/>
                  </a:lnTo>
                  <a:lnTo>
                    <a:pt x="1691639" y="960119"/>
                  </a:lnTo>
                  <a:lnTo>
                    <a:pt x="1727251" y="952940"/>
                  </a:lnTo>
                  <a:lnTo>
                    <a:pt x="1756314" y="933354"/>
                  </a:lnTo>
                  <a:lnTo>
                    <a:pt x="1775900" y="904291"/>
                  </a:lnTo>
                  <a:lnTo>
                    <a:pt x="1783080" y="868680"/>
                  </a:lnTo>
                  <a:lnTo>
                    <a:pt x="1783080" y="91439"/>
                  </a:lnTo>
                  <a:lnTo>
                    <a:pt x="1775900" y="55828"/>
                  </a:lnTo>
                  <a:lnTo>
                    <a:pt x="1756314" y="26765"/>
                  </a:lnTo>
                  <a:lnTo>
                    <a:pt x="1727251" y="7179"/>
                  </a:lnTo>
                  <a:lnTo>
                    <a:pt x="1691639" y="0"/>
                  </a:lnTo>
                  <a:close/>
                </a:path>
              </a:pathLst>
            </a:custGeom>
            <a:solidFill>
              <a:srgbClr val="FFF7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assets/icons/git_FFFFFF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09822" y="4575632"/>
              <a:ext cx="175564" cy="17556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066033" y="4907660"/>
            <a:ext cx="862330" cy="33909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62865" marR="5080" indent="-50800">
              <a:lnSpc>
                <a:spcPts val="1200"/>
              </a:lnSpc>
              <a:spcBef>
                <a:spcPts val="195"/>
              </a:spcBef>
            </a:pPr>
            <a:r>
              <a:rPr dirty="0" sz="1050" b="1">
                <a:solidFill>
                  <a:srgbClr val="F87316"/>
                </a:solidFill>
                <a:latin typeface="Calibri"/>
                <a:cs typeface="Calibri"/>
              </a:rPr>
              <a:t>GitHub</a:t>
            </a:r>
            <a:r>
              <a:rPr dirty="0" sz="1050" spc="-4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87316"/>
                </a:solidFill>
                <a:latin typeface="Calibri"/>
                <a:cs typeface="Calibri"/>
              </a:rPr>
              <a:t>Actions </a:t>
            </a:r>
            <a:r>
              <a:rPr dirty="0" sz="1050" b="1">
                <a:solidFill>
                  <a:srgbClr val="F87316"/>
                </a:solidFill>
                <a:latin typeface="Calibri"/>
                <a:cs typeface="Calibri"/>
              </a:rPr>
              <a:t>CI/CD</a:t>
            </a:r>
            <a:r>
              <a:rPr dirty="0" sz="1050" spc="-3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87316"/>
                </a:solidFill>
                <a:latin typeface="Calibri"/>
                <a:cs typeface="Calibri"/>
              </a:rPr>
              <a:t>Deploy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493008" y="393192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79">
                <a:moveTo>
                  <a:pt x="0" y="0"/>
                </a:moveTo>
                <a:lnTo>
                  <a:pt x="0" y="411479"/>
                </a:lnTo>
              </a:path>
            </a:pathLst>
          </a:custGeom>
          <a:ln w="15875">
            <a:solidFill>
              <a:srgbClr val="F8731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27380" y="5713598"/>
            <a:ext cx="10659110" cy="43180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Steps:</a:t>
            </a:r>
            <a:r>
              <a:rPr dirty="0" sz="12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dashboard</a:t>
            </a:r>
            <a:r>
              <a:rPr dirty="0" sz="12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access</a:t>
            </a:r>
            <a:r>
              <a:rPr dirty="0" sz="1200" spc="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dirty="0" sz="12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static</a:t>
            </a:r>
            <a:r>
              <a:rPr dirty="0" sz="12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hosting</a:t>
            </a:r>
            <a:r>
              <a:rPr dirty="0" sz="12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on</a:t>
            </a:r>
            <a:r>
              <a:rPr dirty="0" sz="12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S3</a:t>
            </a:r>
            <a:r>
              <a:rPr dirty="0" sz="120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dirty="0" sz="12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HTTPS</a:t>
            </a:r>
            <a:r>
              <a:rPr dirty="0" sz="12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3748A"/>
                </a:solidFill>
                <a:latin typeface="Calibri"/>
                <a:cs typeface="Calibri"/>
              </a:rPr>
              <a:t>request</a:t>
            </a:r>
            <a:r>
              <a:rPr dirty="0" sz="12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dirty="0" sz="12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r>
              <a:rPr dirty="0" sz="1200" spc="-10">
                <a:solidFill>
                  <a:srgbClr val="63748A"/>
                </a:solidFill>
                <a:latin typeface="Calibri"/>
                <a:cs typeface="Calibri"/>
              </a:rPr>
              <a:t> Gateway</a:t>
            </a:r>
            <a:r>
              <a:rPr dirty="0" sz="12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dirty="0" sz="12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Lambda</a:t>
            </a:r>
            <a:r>
              <a:rPr dirty="0" sz="12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3748A"/>
                </a:solidFill>
                <a:latin typeface="Calibri"/>
                <a:cs typeface="Calibri"/>
              </a:rPr>
              <a:t>automation</a:t>
            </a:r>
            <a:r>
              <a:rPr dirty="0" sz="12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logic →</a:t>
            </a:r>
            <a:r>
              <a:rPr dirty="0" sz="12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DynamoDB</a:t>
            </a:r>
            <a:r>
              <a:rPr dirty="0" sz="12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read/write</a:t>
            </a:r>
            <a:r>
              <a:rPr dirty="0" sz="1200" spc="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dirty="0" sz="12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3748A"/>
                </a:solidFill>
                <a:latin typeface="Calibri"/>
                <a:cs typeface="Calibri"/>
              </a:rPr>
              <a:t>CloudWatch</a:t>
            </a:r>
            <a:r>
              <a:rPr dirty="0" sz="12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logging,</a:t>
            </a:r>
            <a:r>
              <a:rPr dirty="0" sz="12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r>
              <a:rPr dirty="0" sz="12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3748A"/>
                </a:solidFill>
                <a:latin typeface="Calibri"/>
                <a:cs typeface="Calibri"/>
              </a:rPr>
              <a:t>GitHub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Actions</a:t>
            </a:r>
            <a:r>
              <a:rPr dirty="0" sz="12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handling</a:t>
            </a:r>
            <a:r>
              <a:rPr dirty="0" sz="1200" spc="-6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3748A"/>
                </a:solidFill>
                <a:latin typeface="Calibri"/>
                <a:cs typeface="Calibri"/>
              </a:rPr>
              <a:t>CI/CD</a:t>
            </a:r>
            <a:r>
              <a:rPr dirty="0" sz="12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3748A"/>
                </a:solidFill>
                <a:latin typeface="Calibri"/>
                <a:cs typeface="Calibri"/>
              </a:rPr>
              <a:t>deployment.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627380" y="554482"/>
            <a:ext cx="19367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H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3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G</a:t>
            </a:r>
            <a:r>
              <a:rPr dirty="0" sz="1400" spc="-125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Y</a:t>
            </a:r>
            <a:r>
              <a:rPr dirty="0" sz="1400" spc="35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7B39EC"/>
                </a:solidFill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Built</a:t>
            </a:r>
            <a:r>
              <a:rPr dirty="0" spc="-75"/>
              <a:t> </a:t>
            </a:r>
            <a:r>
              <a:rPr dirty="0"/>
              <a:t>on</a:t>
            </a:r>
            <a:r>
              <a:rPr dirty="0" spc="-90"/>
              <a:t> </a:t>
            </a:r>
            <a:r>
              <a:rPr dirty="0"/>
              <a:t>Managed</a:t>
            </a:r>
            <a:r>
              <a:rPr dirty="0" spc="-85"/>
              <a:t> </a:t>
            </a:r>
            <a:r>
              <a:rPr dirty="0" spc="-10"/>
              <a:t>AWS</a:t>
            </a:r>
            <a:r>
              <a:rPr dirty="0" spc="-95"/>
              <a:t> </a:t>
            </a:r>
            <a:r>
              <a:rPr dirty="0" spc="-10"/>
              <a:t>Services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8640" y="1691639"/>
          <a:ext cx="10957560" cy="4772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9764"/>
                <a:gridCol w="3342640"/>
                <a:gridCol w="5608955"/>
              </a:tblGrid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250" spc="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0655"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250" spc="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0655"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250" spc="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0655">
                    <a:solidFill>
                      <a:srgbClr val="7B39EC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Frontend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0655"/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HTML,</a:t>
                      </a:r>
                      <a:r>
                        <a:rPr dirty="0" sz="1250" spc="-3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CSS,</a:t>
                      </a:r>
                      <a:r>
                        <a:rPr dirty="0" sz="1250" spc="-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JavaScript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0655"/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Responsive</a:t>
                      </a:r>
                      <a:r>
                        <a:rPr dirty="0" sz="1250" spc="-1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dashboard</a:t>
                      </a:r>
                      <a:r>
                        <a:rPr dirty="0" sz="1250" spc="-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250" spc="-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live</a:t>
                      </a:r>
                      <a:r>
                        <a:rPr dirty="0" sz="1250" spc="-1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dirty="0" sz="1250" spc="-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50" spc="-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sensor</a:t>
                      </a:r>
                      <a:r>
                        <a:rPr dirty="0" sz="1250" spc="-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cards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0655"/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1250" spc="-2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Amazon</a:t>
                      </a:r>
                      <a:r>
                        <a:rPr dirty="0" sz="1250" spc="-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1250" spc="-3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Gateway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Secure</a:t>
                      </a:r>
                      <a:r>
                        <a:rPr dirty="0" sz="1250" spc="-5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REST</a:t>
                      </a:r>
                      <a:r>
                        <a:rPr dirty="0" sz="1250" spc="-4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endpoints</a:t>
                      </a:r>
                      <a:r>
                        <a:rPr dirty="0" sz="1250" spc="-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(SmartHomeAPI)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Compute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AWS</a:t>
                      </a:r>
                      <a:r>
                        <a:rPr dirty="0" sz="1250" spc="-5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Lambda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Automation</a:t>
                      </a:r>
                      <a:r>
                        <a:rPr dirty="0" sz="1250" spc="1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50" spc="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data-processing</a:t>
                      </a:r>
                      <a:r>
                        <a:rPr dirty="0" sz="1250" spc="1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logic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50" spc="-6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Amazon</a:t>
                      </a:r>
                      <a:r>
                        <a:rPr dirty="0" sz="1250" spc="-6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DynamoDB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dirty="0" sz="1250" spc="-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r>
                        <a:rPr dirty="0" sz="1250" spc="-5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50" spc="-4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sensor</a:t>
                      </a:r>
                      <a:r>
                        <a:rPr dirty="0" sz="1250" spc="-3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readings</a:t>
                      </a:r>
                      <a:r>
                        <a:rPr dirty="0" sz="1250" spc="-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(NoSQL)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Hosting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Amazon</a:t>
                      </a:r>
                      <a:r>
                        <a:rPr dirty="0" sz="1250" spc="-6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2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Static</a:t>
                      </a:r>
                      <a:r>
                        <a:rPr dirty="0" sz="1250" spc="-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website</a:t>
                      </a:r>
                      <a:r>
                        <a:rPr dirty="0" sz="1250" spc="-2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hosting</a:t>
                      </a:r>
                      <a:r>
                        <a:rPr dirty="0" sz="1250" spc="-3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250" spc="-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50" spc="-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dashboard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AWS</a:t>
                      </a:r>
                      <a:r>
                        <a:rPr dirty="0" sz="1250" spc="-5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2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IAM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Role-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based,</a:t>
                      </a:r>
                      <a:r>
                        <a:rPr dirty="0" sz="1250" spc="-1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least-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privilege</a:t>
                      </a:r>
                      <a:r>
                        <a:rPr dirty="0" sz="1250" spc="-2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r>
                        <a:rPr dirty="0" sz="1250" spc="-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solidFill>
                      <a:srgbClr val="F5F3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Monitoring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Amazon</a:t>
                      </a:r>
                      <a:r>
                        <a:rPr dirty="0" sz="1250" spc="-6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CloudWatch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Logs,</a:t>
                      </a:r>
                      <a:r>
                        <a:rPr dirty="0" sz="1250" spc="-2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metrics</a:t>
                      </a:r>
                      <a:r>
                        <a:rPr dirty="0" sz="1250" spc="-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50" spc="-3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dirty="0" sz="1250" spc="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monitoring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290"/>
                </a:tc>
              </a:tr>
              <a:tr h="530225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250" spc="-10" b="1">
                          <a:solidFill>
                            <a:srgbClr val="0E172A"/>
                          </a:solidFill>
                          <a:latin typeface="Calibri"/>
                          <a:cs typeface="Calibri"/>
                        </a:rPr>
                        <a:t>DevOps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925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Git,</a:t>
                      </a:r>
                      <a:r>
                        <a:rPr dirty="0" sz="1250" spc="-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GitHub,</a:t>
                      </a:r>
                      <a:r>
                        <a:rPr dirty="0" sz="1250" spc="-4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GitHub</a:t>
                      </a:r>
                      <a:r>
                        <a:rPr dirty="0" sz="1250" spc="-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Actions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925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80899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r>
                        <a:rPr dirty="0" sz="1250" spc="-1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1250" spc="-2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50" spc="-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CI/CD</a:t>
                      </a:r>
                      <a:r>
                        <a:rPr dirty="0" sz="1250" spc="-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automation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61925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54482"/>
            <a:ext cx="1746885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87316"/>
                </a:solidFill>
              </a:rPr>
              <a:t>I</a:t>
            </a:r>
            <a:r>
              <a:rPr dirty="0" sz="1400" spc="-120">
                <a:solidFill>
                  <a:srgbClr val="F87316"/>
                </a:solidFill>
              </a:rPr>
              <a:t> </a:t>
            </a:r>
            <a:r>
              <a:rPr dirty="0" sz="1400">
                <a:solidFill>
                  <a:srgbClr val="F87316"/>
                </a:solidFill>
              </a:rPr>
              <a:t>M</a:t>
            </a:r>
            <a:r>
              <a:rPr dirty="0" sz="1400" spc="-114">
                <a:solidFill>
                  <a:srgbClr val="F87316"/>
                </a:solidFill>
              </a:rPr>
              <a:t> </a:t>
            </a:r>
            <a:r>
              <a:rPr dirty="0" sz="1400" spc="-10">
                <a:solidFill>
                  <a:srgbClr val="F87316"/>
                </a:solidFill>
              </a:rPr>
              <a:t>P</a:t>
            </a:r>
            <a:r>
              <a:rPr dirty="0" sz="1400" spc="-120">
                <a:solidFill>
                  <a:srgbClr val="F87316"/>
                </a:solidFill>
              </a:rPr>
              <a:t> </a:t>
            </a:r>
            <a:r>
              <a:rPr dirty="0" sz="1400">
                <a:solidFill>
                  <a:srgbClr val="F87316"/>
                </a:solidFill>
              </a:rPr>
              <a:t>L</a:t>
            </a:r>
            <a:r>
              <a:rPr dirty="0" sz="1400" spc="-114">
                <a:solidFill>
                  <a:srgbClr val="F87316"/>
                </a:solidFill>
              </a:rPr>
              <a:t> </a:t>
            </a:r>
            <a:r>
              <a:rPr dirty="0" sz="1400" spc="-10">
                <a:solidFill>
                  <a:srgbClr val="F87316"/>
                </a:solidFill>
              </a:rPr>
              <a:t>E</a:t>
            </a:r>
            <a:r>
              <a:rPr dirty="0" sz="1400" spc="-114">
                <a:solidFill>
                  <a:srgbClr val="F87316"/>
                </a:solidFill>
              </a:rPr>
              <a:t> </a:t>
            </a:r>
            <a:r>
              <a:rPr dirty="0" sz="1400">
                <a:solidFill>
                  <a:srgbClr val="F87316"/>
                </a:solidFill>
              </a:rPr>
              <a:t>M</a:t>
            </a:r>
            <a:r>
              <a:rPr dirty="0" sz="1400" spc="-120">
                <a:solidFill>
                  <a:srgbClr val="F87316"/>
                </a:solidFill>
              </a:rPr>
              <a:t> </a:t>
            </a:r>
            <a:r>
              <a:rPr dirty="0" sz="1400" spc="-10">
                <a:solidFill>
                  <a:srgbClr val="F87316"/>
                </a:solidFill>
              </a:rPr>
              <a:t>E</a:t>
            </a:r>
            <a:r>
              <a:rPr dirty="0" sz="1400" spc="-114">
                <a:solidFill>
                  <a:srgbClr val="F87316"/>
                </a:solidFill>
              </a:rPr>
              <a:t> </a:t>
            </a:r>
            <a:r>
              <a:rPr dirty="0" sz="1400" spc="-10">
                <a:solidFill>
                  <a:srgbClr val="F87316"/>
                </a:solidFill>
              </a:rPr>
              <a:t>N</a:t>
            </a:r>
            <a:r>
              <a:rPr dirty="0" sz="1400" spc="-114">
                <a:solidFill>
                  <a:srgbClr val="F87316"/>
                </a:solidFill>
              </a:rPr>
              <a:t> </a:t>
            </a:r>
            <a:r>
              <a:rPr dirty="0" sz="1400">
                <a:solidFill>
                  <a:srgbClr val="F87316"/>
                </a:solidFill>
              </a:rPr>
              <a:t>T</a:t>
            </a:r>
            <a:r>
              <a:rPr dirty="0" sz="1400" spc="-114">
                <a:solidFill>
                  <a:srgbClr val="F87316"/>
                </a:solidFill>
              </a:rPr>
              <a:t> </a:t>
            </a:r>
            <a:r>
              <a:rPr dirty="0" sz="1400">
                <a:solidFill>
                  <a:srgbClr val="F87316"/>
                </a:solidFill>
              </a:rPr>
              <a:t>A</a:t>
            </a:r>
            <a:r>
              <a:rPr dirty="0" sz="1400" spc="-110">
                <a:solidFill>
                  <a:srgbClr val="F87316"/>
                </a:solidFill>
              </a:rPr>
              <a:t> </a:t>
            </a:r>
            <a:r>
              <a:rPr dirty="0" sz="1400">
                <a:solidFill>
                  <a:srgbClr val="F87316"/>
                </a:solidFill>
              </a:rPr>
              <a:t>T</a:t>
            </a:r>
            <a:r>
              <a:rPr dirty="0" sz="1400" spc="-125">
                <a:solidFill>
                  <a:srgbClr val="F87316"/>
                </a:solidFill>
              </a:rPr>
              <a:t> </a:t>
            </a:r>
            <a:r>
              <a:rPr dirty="0" sz="1400" spc="-10">
                <a:solidFill>
                  <a:srgbClr val="F87316"/>
                </a:solidFill>
              </a:rPr>
              <a:t>I</a:t>
            </a:r>
            <a:r>
              <a:rPr dirty="0" sz="1400" spc="-120">
                <a:solidFill>
                  <a:srgbClr val="F87316"/>
                </a:solidFill>
              </a:rPr>
              <a:t> </a:t>
            </a:r>
            <a:r>
              <a:rPr dirty="0" sz="1400" spc="-10">
                <a:solidFill>
                  <a:srgbClr val="F87316"/>
                </a:solidFill>
              </a:rPr>
              <a:t>O</a:t>
            </a:r>
            <a:r>
              <a:rPr dirty="0" sz="1400" spc="-110">
                <a:solidFill>
                  <a:srgbClr val="F87316"/>
                </a:solidFill>
              </a:rPr>
              <a:t> </a:t>
            </a:r>
            <a:r>
              <a:rPr dirty="0" sz="1400" spc="-50">
                <a:solidFill>
                  <a:srgbClr val="F87316"/>
                </a:solidFill>
              </a:rPr>
              <a:t>N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627380" y="918717"/>
            <a:ext cx="38030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Smart</a:t>
            </a:r>
            <a:r>
              <a:rPr dirty="0" sz="3000" spc="-4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Home</a:t>
            </a:r>
            <a:r>
              <a:rPr dirty="0" sz="3000" spc="-3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E172A"/>
                </a:solidFill>
                <a:latin typeface="Calibri"/>
                <a:cs typeface="Calibri"/>
              </a:rPr>
              <a:t>Dashboard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4" name="object 4" descr="assets/dashboard.png"/>
          <p:cNvGrpSpPr/>
          <p:nvPr/>
        </p:nvGrpSpPr>
        <p:grpSpPr>
          <a:xfrm>
            <a:off x="535940" y="1587500"/>
            <a:ext cx="7340600" cy="4323080"/>
            <a:chOff x="535940" y="1587500"/>
            <a:chExt cx="7340600" cy="4323080"/>
          </a:xfrm>
        </p:grpSpPr>
        <p:pic>
          <p:nvPicPr>
            <p:cNvPr id="5" name="object 5" descr="assets/dashboar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600200"/>
              <a:ext cx="7315200" cy="42976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1600200"/>
              <a:ext cx="7315200" cy="4297680"/>
            </a:xfrm>
            <a:custGeom>
              <a:avLst/>
              <a:gdLst/>
              <a:ahLst/>
              <a:cxnLst/>
              <a:rect l="l" t="t" r="r" b="b"/>
              <a:pathLst>
                <a:path w="7315200" h="4297680">
                  <a:moveTo>
                    <a:pt x="0" y="4297680"/>
                  </a:moveTo>
                  <a:lnTo>
                    <a:pt x="7315200" y="4297680"/>
                  </a:lnTo>
                  <a:lnTo>
                    <a:pt x="7315200" y="0"/>
                  </a:lnTo>
                  <a:lnTo>
                    <a:pt x="0" y="0"/>
                  </a:lnTo>
                  <a:lnTo>
                    <a:pt x="0" y="4297680"/>
                  </a:lnTo>
                  <a:close/>
                </a:path>
              </a:pathLst>
            </a:custGeom>
            <a:ln w="25400">
              <a:solidFill>
                <a:srgbClr val="F5F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8138159" y="1600200"/>
            <a:ext cx="3291840" cy="4297680"/>
            <a:chOff x="8138159" y="1600200"/>
            <a:chExt cx="3291840" cy="4297680"/>
          </a:xfrm>
        </p:grpSpPr>
        <p:sp>
          <p:nvSpPr>
            <p:cNvPr id="8" name="object 8"/>
            <p:cNvSpPr/>
            <p:nvPr/>
          </p:nvSpPr>
          <p:spPr>
            <a:xfrm>
              <a:off x="8138159" y="1600200"/>
              <a:ext cx="3291840" cy="4297680"/>
            </a:xfrm>
            <a:custGeom>
              <a:avLst/>
              <a:gdLst/>
              <a:ahLst/>
              <a:cxnLst/>
              <a:rect l="l" t="t" r="r" b="b"/>
              <a:pathLst>
                <a:path w="3291840" h="4297680">
                  <a:moveTo>
                    <a:pt x="318211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4187964"/>
                  </a:lnTo>
                  <a:lnTo>
                    <a:pt x="8626" y="4230669"/>
                  </a:lnTo>
                  <a:lnTo>
                    <a:pt x="32146" y="4265544"/>
                  </a:lnTo>
                  <a:lnTo>
                    <a:pt x="67026" y="4289057"/>
                  </a:lnTo>
                  <a:lnTo>
                    <a:pt x="109728" y="4297680"/>
                  </a:lnTo>
                  <a:lnTo>
                    <a:pt x="3182112" y="4297680"/>
                  </a:lnTo>
                  <a:lnTo>
                    <a:pt x="3224813" y="4289057"/>
                  </a:lnTo>
                  <a:lnTo>
                    <a:pt x="3259693" y="4265544"/>
                  </a:lnTo>
                  <a:lnTo>
                    <a:pt x="3283213" y="4230669"/>
                  </a:lnTo>
                  <a:lnTo>
                    <a:pt x="3291840" y="4187964"/>
                  </a:lnTo>
                  <a:lnTo>
                    <a:pt x="3291840" y="109727"/>
                  </a:lnTo>
                  <a:lnTo>
                    <a:pt x="3283213" y="67026"/>
                  </a:lnTo>
                  <a:lnTo>
                    <a:pt x="3259693" y="32146"/>
                  </a:lnTo>
                  <a:lnTo>
                    <a:pt x="3224813" y="8626"/>
                  </a:lnTo>
                  <a:lnTo>
                    <a:pt x="318211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assets/icons/check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9789" y="2056632"/>
              <a:ext cx="139423" cy="9759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949690" y="2073402"/>
            <a:ext cx="1869439" cy="3987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Live</a:t>
            </a:r>
            <a:r>
              <a:rPr dirty="0" sz="1200" spc="-4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controls</a:t>
            </a:r>
            <a:r>
              <a:rPr dirty="0" sz="12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for</a:t>
            </a:r>
            <a:r>
              <a:rPr dirty="0" sz="1200" spc="-4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lights,</a:t>
            </a:r>
            <a:r>
              <a:rPr dirty="0" sz="1200" spc="-5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E172A"/>
                </a:solidFill>
                <a:latin typeface="Calibri"/>
                <a:cs typeface="Calibri"/>
              </a:rPr>
              <a:t>fans,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doors,</a:t>
            </a:r>
            <a:r>
              <a:rPr dirty="0" sz="12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air</a:t>
            </a:r>
            <a:r>
              <a:rPr dirty="0" sz="12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conditioner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79790" y="3062472"/>
            <a:ext cx="139700" cy="2109470"/>
            <a:chOff x="8479790" y="3062472"/>
            <a:chExt cx="139700" cy="2109470"/>
          </a:xfrm>
        </p:grpSpPr>
        <p:pic>
          <p:nvPicPr>
            <p:cNvPr id="12" name="object 12" descr="assets/icons/check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9790" y="3062472"/>
              <a:ext cx="139423" cy="97596"/>
            </a:xfrm>
            <a:prstGeom prst="rect">
              <a:avLst/>
            </a:prstGeom>
          </p:spPr>
        </p:pic>
        <p:pic>
          <p:nvPicPr>
            <p:cNvPr id="13" name="object 13" descr="assets/icons/check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9790" y="4068312"/>
              <a:ext cx="139423" cy="97596"/>
            </a:xfrm>
            <a:prstGeom prst="rect">
              <a:avLst/>
            </a:prstGeom>
          </p:spPr>
        </p:pic>
        <p:pic>
          <p:nvPicPr>
            <p:cNvPr id="14" name="object 14" descr="assets/icons/check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9790" y="5074152"/>
              <a:ext cx="139423" cy="9759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949690" y="2984119"/>
            <a:ext cx="1728470" cy="5892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Real-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time</a:t>
            </a:r>
            <a:r>
              <a:rPr dirty="0" sz="1200" spc="-3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sensor</a:t>
            </a:r>
            <a:r>
              <a:rPr dirty="0" sz="1200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cards: temperature,</a:t>
            </a:r>
            <a:r>
              <a:rPr dirty="0" sz="1200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humidity,</a:t>
            </a:r>
            <a:r>
              <a:rPr dirty="0" sz="1200" spc="-4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E172A"/>
                </a:solidFill>
                <a:latin typeface="Calibri"/>
                <a:cs typeface="Calibri"/>
              </a:rPr>
              <a:t>gas,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motion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8949690" y="4085335"/>
            <a:ext cx="1865630" cy="3987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Interactive</a:t>
            </a:r>
            <a:r>
              <a:rPr dirty="0" sz="1200" spc="-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JavaScript</a:t>
            </a:r>
            <a:r>
              <a:rPr dirty="0" sz="1200" spc="1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toggles update</a:t>
            </a:r>
            <a:r>
              <a:rPr dirty="0" sz="1200" spc="-4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device</a:t>
            </a:r>
            <a:r>
              <a:rPr dirty="0" sz="12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status</a:t>
            </a:r>
            <a:r>
              <a:rPr dirty="0" sz="12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instantly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49690" y="5090871"/>
            <a:ext cx="203073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Live-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updating</a:t>
            </a:r>
            <a:r>
              <a:rPr dirty="0" sz="1200" spc="-3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temperature</a:t>
            </a:r>
            <a:r>
              <a:rPr dirty="0" sz="12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chart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E172A"/>
                </a:solidFill>
                <a:latin typeface="Calibri"/>
                <a:cs typeface="Calibri"/>
              </a:rPr>
              <a:t>recent</a:t>
            </a:r>
            <a:r>
              <a:rPr dirty="0" sz="1200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E172A"/>
                </a:solidFill>
                <a:latin typeface="Calibri"/>
                <a:cs typeface="Calibri"/>
              </a:rPr>
              <a:t>activity</a:t>
            </a:r>
            <a:r>
              <a:rPr dirty="0" sz="1200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E172A"/>
                </a:solidFill>
                <a:latin typeface="Calibri"/>
                <a:cs typeface="Calibri"/>
              </a:rPr>
              <a:t>log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54482"/>
            <a:ext cx="2703195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05B6D3"/>
                </a:solidFill>
              </a:rPr>
              <a:t>B</a:t>
            </a:r>
            <a:r>
              <a:rPr dirty="0" sz="1400" spc="-11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A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C</a:t>
            </a:r>
            <a:r>
              <a:rPr dirty="0" sz="1400" spc="-11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K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N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D</a:t>
            </a:r>
            <a:r>
              <a:rPr dirty="0" sz="1400" spc="35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I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M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P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L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M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N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T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A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T</a:t>
            </a:r>
            <a:r>
              <a:rPr dirty="0" sz="1400" spc="-125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I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O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 spc="-50">
                <a:solidFill>
                  <a:srgbClr val="05B6D3"/>
                </a:solidFill>
              </a:rPr>
              <a:t>N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627380" y="918717"/>
            <a:ext cx="37274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API</a:t>
            </a:r>
            <a:r>
              <a:rPr dirty="0" sz="3000" spc="-4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0E172A"/>
                </a:solidFill>
                <a:latin typeface="Calibri"/>
                <a:cs typeface="Calibri"/>
              </a:rPr>
              <a:t>Gateway</a:t>
            </a:r>
            <a:r>
              <a:rPr dirty="0" sz="3000" spc="-3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&amp;</a:t>
            </a:r>
            <a:r>
              <a:rPr dirty="0" sz="3000" spc="-3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E172A"/>
                </a:solidFill>
                <a:latin typeface="Calibri"/>
                <a:cs typeface="Calibri"/>
              </a:rPr>
              <a:t>Lambda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4" name="object 4" descr="assets/api_routes.jpeg"/>
          <p:cNvGrpSpPr/>
          <p:nvPr/>
        </p:nvGrpSpPr>
        <p:grpSpPr>
          <a:xfrm>
            <a:off x="535940" y="1724660"/>
            <a:ext cx="5191760" cy="3362960"/>
            <a:chOff x="535940" y="1724660"/>
            <a:chExt cx="5191760" cy="3362960"/>
          </a:xfrm>
        </p:grpSpPr>
        <p:pic>
          <p:nvPicPr>
            <p:cNvPr id="5" name="object 5" descr="assets/api_routes.jpe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737360"/>
              <a:ext cx="5166360" cy="3337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1737360"/>
              <a:ext cx="5166360" cy="3337560"/>
            </a:xfrm>
            <a:custGeom>
              <a:avLst/>
              <a:gdLst/>
              <a:ahLst/>
              <a:cxnLst/>
              <a:rect l="l" t="t" r="r" b="b"/>
              <a:pathLst>
                <a:path w="5166360" h="3337560">
                  <a:moveTo>
                    <a:pt x="0" y="3337560"/>
                  </a:moveTo>
                  <a:lnTo>
                    <a:pt x="5166360" y="3337560"/>
                  </a:lnTo>
                  <a:lnTo>
                    <a:pt x="5166360" y="0"/>
                  </a:lnTo>
                  <a:lnTo>
                    <a:pt x="0" y="0"/>
                  </a:lnTo>
                  <a:lnTo>
                    <a:pt x="0" y="3337560"/>
                  </a:lnTo>
                  <a:close/>
                </a:path>
              </a:pathLst>
            </a:custGeom>
            <a:ln w="25400">
              <a:solidFill>
                <a:srgbClr val="F5F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27380" y="5297170"/>
            <a:ext cx="3265804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SmartHomeAPI</a:t>
            </a:r>
            <a:r>
              <a:rPr dirty="0" sz="12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registered</a:t>
            </a:r>
            <a:r>
              <a:rPr dirty="0" sz="12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dirty="0" sz="12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Amazon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r>
              <a:rPr dirty="0" sz="125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Gateway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8" name="object 8" descr="assets/lambda_list.jpeg"/>
          <p:cNvGrpSpPr/>
          <p:nvPr/>
        </p:nvGrpSpPr>
        <p:grpSpPr>
          <a:xfrm>
            <a:off x="6342379" y="1724660"/>
            <a:ext cx="5191760" cy="3362960"/>
            <a:chOff x="6342379" y="1724660"/>
            <a:chExt cx="5191760" cy="3362960"/>
          </a:xfrm>
        </p:grpSpPr>
        <p:pic>
          <p:nvPicPr>
            <p:cNvPr id="9" name="object 9" descr="assets/lambda_list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5079" y="1737360"/>
              <a:ext cx="5166360" cy="33375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55079" y="1737360"/>
              <a:ext cx="5166360" cy="3337560"/>
            </a:xfrm>
            <a:custGeom>
              <a:avLst/>
              <a:gdLst/>
              <a:ahLst/>
              <a:cxnLst/>
              <a:rect l="l" t="t" r="r" b="b"/>
              <a:pathLst>
                <a:path w="5166359" h="3337560">
                  <a:moveTo>
                    <a:pt x="0" y="3337560"/>
                  </a:moveTo>
                  <a:lnTo>
                    <a:pt x="5166360" y="3337560"/>
                  </a:lnTo>
                  <a:lnTo>
                    <a:pt x="5166360" y="0"/>
                  </a:lnTo>
                  <a:lnTo>
                    <a:pt x="0" y="0"/>
                  </a:lnTo>
                  <a:lnTo>
                    <a:pt x="0" y="3337560"/>
                  </a:lnTo>
                  <a:close/>
                </a:path>
              </a:pathLst>
            </a:custGeom>
            <a:ln w="25400">
              <a:solidFill>
                <a:srgbClr val="F5F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434709" y="5201488"/>
            <a:ext cx="408622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Lambda</a:t>
            </a:r>
            <a:r>
              <a:rPr dirty="0" sz="125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functions:</a:t>
            </a:r>
            <a:r>
              <a:rPr dirty="0" sz="125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SmartHomeController,</a:t>
            </a:r>
            <a:r>
              <a:rPr dirty="0" sz="12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GetSmartHomeData,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MainMonitoringFunction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54482"/>
            <a:ext cx="27031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B</a:t>
            </a:r>
            <a:r>
              <a:rPr dirty="0" sz="1400" spc="-11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A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C</a:t>
            </a:r>
            <a:r>
              <a:rPr dirty="0" sz="1400" spc="-11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K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N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D</a:t>
            </a:r>
            <a:r>
              <a:rPr dirty="0" sz="1400" spc="35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I</a:t>
            </a:r>
            <a:r>
              <a:rPr dirty="0" sz="1400" spc="-12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M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P</a:t>
            </a:r>
            <a:r>
              <a:rPr dirty="0" sz="1400" spc="-12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L</a:t>
            </a:r>
            <a:r>
              <a:rPr dirty="0" sz="1400" spc="-12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E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M</a:t>
            </a:r>
            <a:r>
              <a:rPr dirty="0" sz="1400" spc="-12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N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A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B6D3"/>
                </a:solidFill>
                <a:latin typeface="Calibri"/>
                <a:cs typeface="Calibri"/>
              </a:rPr>
              <a:t>T</a:t>
            </a:r>
            <a:r>
              <a:rPr dirty="0" sz="1400" spc="-125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I</a:t>
            </a:r>
            <a:r>
              <a:rPr dirty="0" sz="1400" spc="-120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B6D3"/>
                </a:solidFill>
                <a:latin typeface="Calibri"/>
                <a:cs typeface="Calibri"/>
              </a:rPr>
              <a:t>O</a:t>
            </a:r>
            <a:r>
              <a:rPr dirty="0" sz="1400" spc="-114" b="1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05B6D3"/>
                </a:solidFill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Storage:</a:t>
            </a:r>
            <a:r>
              <a:rPr dirty="0" spc="-50"/>
              <a:t> </a:t>
            </a:r>
            <a:r>
              <a:rPr dirty="0"/>
              <a:t>S3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10"/>
              <a:t>DynamoDB</a:t>
            </a:r>
          </a:p>
        </p:txBody>
      </p:sp>
      <p:grpSp>
        <p:nvGrpSpPr>
          <p:cNvPr id="4" name="object 4" descr="assets/s3_bucket.jpeg"/>
          <p:cNvGrpSpPr/>
          <p:nvPr/>
        </p:nvGrpSpPr>
        <p:grpSpPr>
          <a:xfrm>
            <a:off x="535940" y="1724660"/>
            <a:ext cx="5191760" cy="3362960"/>
            <a:chOff x="535940" y="1724660"/>
            <a:chExt cx="5191760" cy="3362960"/>
          </a:xfrm>
        </p:grpSpPr>
        <p:pic>
          <p:nvPicPr>
            <p:cNvPr id="5" name="object 5" descr="assets/s3_bucket.jpe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737360"/>
              <a:ext cx="5166360" cy="3337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1737360"/>
              <a:ext cx="5166360" cy="3337560"/>
            </a:xfrm>
            <a:custGeom>
              <a:avLst/>
              <a:gdLst/>
              <a:ahLst/>
              <a:cxnLst/>
              <a:rect l="l" t="t" r="r" b="b"/>
              <a:pathLst>
                <a:path w="5166360" h="3337560">
                  <a:moveTo>
                    <a:pt x="0" y="3337560"/>
                  </a:moveTo>
                  <a:lnTo>
                    <a:pt x="5166360" y="3337560"/>
                  </a:lnTo>
                  <a:lnTo>
                    <a:pt x="5166360" y="0"/>
                  </a:lnTo>
                  <a:lnTo>
                    <a:pt x="0" y="0"/>
                  </a:lnTo>
                  <a:lnTo>
                    <a:pt x="0" y="3337560"/>
                  </a:lnTo>
                  <a:close/>
                </a:path>
              </a:pathLst>
            </a:custGeom>
            <a:ln w="25400">
              <a:solidFill>
                <a:srgbClr val="F5F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27380" y="5297170"/>
            <a:ext cx="40239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S3</a:t>
            </a:r>
            <a:r>
              <a:rPr dirty="0" sz="12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bucket “smart-home-monitoring-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456”</a:t>
            </a:r>
            <a:r>
              <a:rPr dirty="0" sz="1250" spc="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hosts</a:t>
            </a:r>
            <a:r>
              <a:rPr dirty="0" sz="12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 dashboard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8" name="object 8" descr="assets/dynamo_tables.jpeg"/>
          <p:cNvGrpSpPr/>
          <p:nvPr/>
        </p:nvGrpSpPr>
        <p:grpSpPr>
          <a:xfrm>
            <a:off x="6342379" y="1724660"/>
            <a:ext cx="5191760" cy="3362960"/>
            <a:chOff x="6342379" y="1724660"/>
            <a:chExt cx="5191760" cy="3362960"/>
          </a:xfrm>
        </p:grpSpPr>
        <p:pic>
          <p:nvPicPr>
            <p:cNvPr id="9" name="object 9" descr="assets/dynamo_tables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5079" y="1737360"/>
              <a:ext cx="5166360" cy="33375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55079" y="1737360"/>
              <a:ext cx="5166360" cy="3337560"/>
            </a:xfrm>
            <a:custGeom>
              <a:avLst/>
              <a:gdLst/>
              <a:ahLst/>
              <a:cxnLst/>
              <a:rect l="l" t="t" r="r" b="b"/>
              <a:pathLst>
                <a:path w="5166359" h="3337560">
                  <a:moveTo>
                    <a:pt x="0" y="3337560"/>
                  </a:moveTo>
                  <a:lnTo>
                    <a:pt x="5166360" y="3337560"/>
                  </a:lnTo>
                  <a:lnTo>
                    <a:pt x="5166360" y="0"/>
                  </a:lnTo>
                  <a:lnTo>
                    <a:pt x="0" y="0"/>
                  </a:lnTo>
                  <a:lnTo>
                    <a:pt x="0" y="3337560"/>
                  </a:lnTo>
                  <a:close/>
                </a:path>
              </a:pathLst>
            </a:custGeom>
            <a:ln w="25400">
              <a:solidFill>
                <a:srgbClr val="F5F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434709" y="5297170"/>
            <a:ext cx="3773804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DynamoDB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tables:</a:t>
            </a:r>
            <a:r>
              <a:rPr dirty="0" sz="12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SmartHomeData</a:t>
            </a:r>
            <a:r>
              <a:rPr dirty="0" sz="12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&amp;</a:t>
            </a:r>
            <a:r>
              <a:rPr dirty="0" sz="12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SmartHomeDevices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54482"/>
            <a:ext cx="2365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G</a:t>
            </a:r>
            <a:r>
              <a:rPr dirty="0" sz="1400" spc="355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&amp;</a:t>
            </a:r>
            <a:r>
              <a:rPr dirty="0" sz="1400" spc="385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M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7B39EC"/>
                </a:solidFill>
                <a:latin typeface="Calibri"/>
                <a:cs typeface="Calibri"/>
              </a:rPr>
              <a:t>R</a:t>
            </a:r>
            <a:r>
              <a:rPr dirty="0" sz="1400" spc="-11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dirty="0" sz="1400" spc="-12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dirty="0" sz="1400" spc="-114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7B39EC"/>
                </a:solidFill>
                <a:latin typeface="Calibri"/>
                <a:cs typeface="Calibri"/>
              </a:rPr>
              <a:t>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Verified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 spc="-10"/>
              <a:t>Practice</a:t>
            </a:r>
          </a:p>
        </p:txBody>
      </p:sp>
      <p:grpSp>
        <p:nvGrpSpPr>
          <p:cNvPr id="4" name="object 4" descr="assets/chart_activity.png"/>
          <p:cNvGrpSpPr/>
          <p:nvPr/>
        </p:nvGrpSpPr>
        <p:grpSpPr>
          <a:xfrm>
            <a:off x="535940" y="1724660"/>
            <a:ext cx="5191760" cy="3362960"/>
            <a:chOff x="535940" y="1724660"/>
            <a:chExt cx="5191760" cy="3362960"/>
          </a:xfrm>
        </p:grpSpPr>
        <p:pic>
          <p:nvPicPr>
            <p:cNvPr id="5" name="object 5" descr="assets/chart_activity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737360"/>
              <a:ext cx="5166360" cy="3337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1737360"/>
              <a:ext cx="5166360" cy="3337560"/>
            </a:xfrm>
            <a:custGeom>
              <a:avLst/>
              <a:gdLst/>
              <a:ahLst/>
              <a:cxnLst/>
              <a:rect l="l" t="t" r="r" b="b"/>
              <a:pathLst>
                <a:path w="5166360" h="3337560">
                  <a:moveTo>
                    <a:pt x="0" y="3337560"/>
                  </a:moveTo>
                  <a:lnTo>
                    <a:pt x="5166360" y="3337560"/>
                  </a:lnTo>
                  <a:lnTo>
                    <a:pt x="5166360" y="0"/>
                  </a:lnTo>
                  <a:lnTo>
                    <a:pt x="0" y="0"/>
                  </a:lnTo>
                  <a:lnTo>
                    <a:pt x="0" y="3337560"/>
                  </a:lnTo>
                  <a:close/>
                </a:path>
              </a:pathLst>
            </a:custGeom>
            <a:ln w="25400">
              <a:solidFill>
                <a:srgbClr val="F5F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27380" y="5297170"/>
            <a:ext cx="4081779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20">
                <a:solidFill>
                  <a:srgbClr val="63748A"/>
                </a:solidFill>
                <a:latin typeface="Calibri"/>
                <a:cs typeface="Calibri"/>
              </a:rPr>
              <a:t>Temperature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analytics</a:t>
            </a:r>
            <a:r>
              <a:rPr dirty="0" sz="12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chart</a:t>
            </a:r>
            <a:r>
              <a:rPr dirty="0" sz="12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&amp;</a:t>
            </a:r>
            <a:r>
              <a:rPr dirty="0" sz="12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recent</a:t>
            </a:r>
            <a:r>
              <a:rPr dirty="0" sz="12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activity</a:t>
            </a:r>
            <a:r>
              <a:rPr dirty="0" sz="12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log</a:t>
            </a:r>
            <a:r>
              <a:rPr dirty="0" sz="12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during</a:t>
            </a:r>
            <a:r>
              <a:rPr dirty="0" sz="125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testing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8" name="object 8" descr="assets/dynamo_scan.jpeg"/>
          <p:cNvGrpSpPr/>
          <p:nvPr/>
        </p:nvGrpSpPr>
        <p:grpSpPr>
          <a:xfrm>
            <a:off x="6342379" y="1724660"/>
            <a:ext cx="5191760" cy="3362960"/>
            <a:chOff x="6342379" y="1724660"/>
            <a:chExt cx="5191760" cy="3362960"/>
          </a:xfrm>
        </p:grpSpPr>
        <p:pic>
          <p:nvPicPr>
            <p:cNvPr id="9" name="object 9" descr="assets/dynamo_scan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5079" y="1737360"/>
              <a:ext cx="5166360" cy="33375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55079" y="1737360"/>
              <a:ext cx="5166360" cy="3337560"/>
            </a:xfrm>
            <a:custGeom>
              <a:avLst/>
              <a:gdLst/>
              <a:ahLst/>
              <a:cxnLst/>
              <a:rect l="l" t="t" r="r" b="b"/>
              <a:pathLst>
                <a:path w="5166359" h="3337560">
                  <a:moveTo>
                    <a:pt x="0" y="3337560"/>
                  </a:moveTo>
                  <a:lnTo>
                    <a:pt x="5166360" y="3337560"/>
                  </a:lnTo>
                  <a:lnTo>
                    <a:pt x="5166360" y="0"/>
                  </a:lnTo>
                  <a:lnTo>
                    <a:pt x="0" y="0"/>
                  </a:lnTo>
                  <a:lnTo>
                    <a:pt x="0" y="3337560"/>
                  </a:lnTo>
                  <a:close/>
                </a:path>
              </a:pathLst>
            </a:custGeom>
            <a:ln w="25400">
              <a:solidFill>
                <a:srgbClr val="F5F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434709" y="5297170"/>
            <a:ext cx="411543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DynamoDB</a:t>
            </a:r>
            <a:r>
              <a:rPr dirty="0" sz="12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scan</a:t>
            </a:r>
            <a:r>
              <a:rPr dirty="0" sz="12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confirms</a:t>
            </a:r>
            <a:r>
              <a:rPr dirty="0" sz="12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dirty="0" sz="12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records</a:t>
            </a:r>
            <a:r>
              <a:rPr dirty="0" sz="125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3748A"/>
                </a:solidFill>
                <a:latin typeface="Calibri"/>
                <a:cs typeface="Calibri"/>
              </a:rPr>
              <a:t>are</a:t>
            </a:r>
            <a:r>
              <a:rPr dirty="0" sz="12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persisted</a:t>
            </a:r>
            <a:r>
              <a:rPr dirty="0" sz="125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3748A"/>
                </a:solidFill>
                <a:latin typeface="Calibri"/>
                <a:cs typeface="Calibri"/>
              </a:rPr>
              <a:t>correctly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54482"/>
            <a:ext cx="81406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R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87316"/>
                </a:solidFill>
                <a:latin typeface="Calibri"/>
                <a:cs typeface="Calibri"/>
              </a:rPr>
              <a:t>E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S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U</a:t>
            </a:r>
            <a:r>
              <a:rPr dirty="0" sz="1400" spc="-114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L</a:t>
            </a:r>
            <a:r>
              <a:rPr dirty="0" sz="1400" spc="-12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87316"/>
                </a:solidFill>
                <a:latin typeface="Calibri"/>
                <a:cs typeface="Calibri"/>
              </a:rPr>
              <a:t>T</a:t>
            </a:r>
            <a:r>
              <a:rPr dirty="0" sz="1400" spc="-11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87316"/>
                </a:solidFill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125"/>
              <a:t> </a:t>
            </a:r>
            <a:r>
              <a:rPr dirty="0"/>
              <a:t>We</a:t>
            </a:r>
            <a:r>
              <a:rPr dirty="0" spc="-125"/>
              <a:t> </a:t>
            </a:r>
            <a:r>
              <a:rPr dirty="0" spc="-10"/>
              <a:t>Achieved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737359"/>
            <a:ext cx="2514600" cy="2148840"/>
          </a:xfrm>
          <a:custGeom>
            <a:avLst/>
            <a:gdLst/>
            <a:ahLst/>
            <a:cxnLst/>
            <a:rect l="l" t="t" r="r" b="b"/>
            <a:pathLst>
              <a:path w="2514600" h="2148840">
                <a:moveTo>
                  <a:pt x="2514600" y="6858"/>
                </a:moveTo>
                <a:lnTo>
                  <a:pt x="2507742" y="0"/>
                </a:lnTo>
                <a:lnTo>
                  <a:pt x="2404872" y="0"/>
                </a:lnTo>
                <a:lnTo>
                  <a:pt x="109715" y="0"/>
                </a:lnTo>
                <a:lnTo>
                  <a:pt x="6819" y="0"/>
                </a:lnTo>
                <a:lnTo>
                  <a:pt x="0" y="6858"/>
                </a:lnTo>
                <a:lnTo>
                  <a:pt x="0" y="15240"/>
                </a:lnTo>
                <a:lnTo>
                  <a:pt x="0" y="84582"/>
                </a:lnTo>
                <a:lnTo>
                  <a:pt x="4203" y="88823"/>
                </a:lnTo>
                <a:lnTo>
                  <a:pt x="0" y="109728"/>
                </a:lnTo>
                <a:lnTo>
                  <a:pt x="0" y="2039112"/>
                </a:lnTo>
                <a:lnTo>
                  <a:pt x="8610" y="2081822"/>
                </a:lnTo>
                <a:lnTo>
                  <a:pt x="32131" y="2116696"/>
                </a:lnTo>
                <a:lnTo>
                  <a:pt x="67005" y="2140216"/>
                </a:lnTo>
                <a:lnTo>
                  <a:pt x="109715" y="2148840"/>
                </a:lnTo>
                <a:lnTo>
                  <a:pt x="2404872" y="2148840"/>
                </a:lnTo>
                <a:lnTo>
                  <a:pt x="2447569" y="2140216"/>
                </a:lnTo>
                <a:lnTo>
                  <a:pt x="2482443" y="2116696"/>
                </a:lnTo>
                <a:lnTo>
                  <a:pt x="2505964" y="2081822"/>
                </a:lnTo>
                <a:lnTo>
                  <a:pt x="2514600" y="2039112"/>
                </a:lnTo>
                <a:lnTo>
                  <a:pt x="2514600" y="109728"/>
                </a:lnTo>
                <a:lnTo>
                  <a:pt x="2510358" y="88823"/>
                </a:lnTo>
                <a:lnTo>
                  <a:pt x="2514600" y="84582"/>
                </a:lnTo>
                <a:lnTo>
                  <a:pt x="2514600" y="6858"/>
                </a:lnTo>
                <a:close/>
              </a:path>
            </a:pathLst>
          </a:custGeom>
          <a:solidFill>
            <a:srgbClr val="F5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5980" y="2008758"/>
            <a:ext cx="76962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20" b="1">
                <a:solidFill>
                  <a:srgbClr val="7B39EC"/>
                </a:solidFill>
                <a:latin typeface="Calibri"/>
                <a:cs typeface="Calibri"/>
              </a:rPr>
              <a:t>100%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5980" y="2745486"/>
            <a:ext cx="7766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E172A"/>
                </a:solidFill>
                <a:latin typeface="Calibri"/>
                <a:cs typeface="Calibri"/>
              </a:rPr>
              <a:t>Serverless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980" y="3296767"/>
            <a:ext cx="1482090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No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servers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provisioned</a:t>
            </a:r>
            <a:r>
              <a:rPr dirty="0" sz="11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or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managed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37560" y="1737359"/>
            <a:ext cx="2514600" cy="2148840"/>
          </a:xfrm>
          <a:custGeom>
            <a:avLst/>
            <a:gdLst/>
            <a:ahLst/>
            <a:cxnLst/>
            <a:rect l="l" t="t" r="r" b="b"/>
            <a:pathLst>
              <a:path w="2514600" h="2148840">
                <a:moveTo>
                  <a:pt x="2514600" y="6858"/>
                </a:moveTo>
                <a:lnTo>
                  <a:pt x="2507742" y="0"/>
                </a:lnTo>
                <a:lnTo>
                  <a:pt x="2404872" y="0"/>
                </a:lnTo>
                <a:lnTo>
                  <a:pt x="109728" y="0"/>
                </a:lnTo>
                <a:lnTo>
                  <a:pt x="6858" y="0"/>
                </a:lnTo>
                <a:lnTo>
                  <a:pt x="0" y="6858"/>
                </a:lnTo>
                <a:lnTo>
                  <a:pt x="0" y="15240"/>
                </a:lnTo>
                <a:lnTo>
                  <a:pt x="0" y="84582"/>
                </a:lnTo>
                <a:lnTo>
                  <a:pt x="4216" y="88811"/>
                </a:lnTo>
                <a:lnTo>
                  <a:pt x="0" y="109728"/>
                </a:lnTo>
                <a:lnTo>
                  <a:pt x="0" y="2039112"/>
                </a:lnTo>
                <a:lnTo>
                  <a:pt x="8623" y="2081822"/>
                </a:lnTo>
                <a:lnTo>
                  <a:pt x="32143" y="2116696"/>
                </a:lnTo>
                <a:lnTo>
                  <a:pt x="67017" y="2140216"/>
                </a:lnTo>
                <a:lnTo>
                  <a:pt x="109728" y="2148840"/>
                </a:lnTo>
                <a:lnTo>
                  <a:pt x="2404872" y="2148840"/>
                </a:lnTo>
                <a:lnTo>
                  <a:pt x="2447569" y="2140216"/>
                </a:lnTo>
                <a:lnTo>
                  <a:pt x="2482443" y="2116696"/>
                </a:lnTo>
                <a:lnTo>
                  <a:pt x="2505964" y="2081822"/>
                </a:lnTo>
                <a:lnTo>
                  <a:pt x="2514600" y="2039112"/>
                </a:lnTo>
                <a:lnTo>
                  <a:pt x="2514600" y="109728"/>
                </a:lnTo>
                <a:lnTo>
                  <a:pt x="2510358" y="88823"/>
                </a:lnTo>
                <a:lnTo>
                  <a:pt x="2514600" y="84582"/>
                </a:lnTo>
                <a:lnTo>
                  <a:pt x="2514600" y="6858"/>
                </a:lnTo>
                <a:close/>
              </a:path>
            </a:pathLst>
          </a:custGeom>
          <a:solidFill>
            <a:srgbClr val="F5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645534" y="2008758"/>
            <a:ext cx="993140" cy="1076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50" b="1">
                <a:solidFill>
                  <a:srgbClr val="F87316"/>
                </a:solidFill>
                <a:latin typeface="Calibri"/>
                <a:cs typeface="Calibri"/>
              </a:rPr>
              <a:t>3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ts val="1600"/>
              </a:lnSpc>
              <a:spcBef>
                <a:spcPts val="1995"/>
              </a:spcBef>
            </a:pPr>
            <a:r>
              <a:rPr dirty="0" sz="1400" b="1">
                <a:solidFill>
                  <a:srgbClr val="0E172A"/>
                </a:solidFill>
                <a:latin typeface="Calibri"/>
                <a:cs typeface="Calibri"/>
              </a:rPr>
              <a:t>Core</a:t>
            </a:r>
            <a:r>
              <a:rPr dirty="0" sz="1400" spc="-4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172A"/>
                </a:solidFill>
                <a:latin typeface="Calibri"/>
                <a:cs typeface="Calibri"/>
              </a:rPr>
              <a:t>Lambda Functions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5534" y="3296767"/>
            <a:ext cx="1402715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Control,</a:t>
            </a:r>
            <a:r>
              <a:rPr dirty="0" sz="11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data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retrieval</a:t>
            </a:r>
            <a:r>
              <a:rPr dirty="0" sz="11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63748A"/>
                </a:solidFill>
                <a:latin typeface="Calibri"/>
                <a:cs typeface="Calibri"/>
              </a:rPr>
              <a:t>&amp;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 monitoring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26480" y="1737359"/>
            <a:ext cx="2514600" cy="2148840"/>
          </a:xfrm>
          <a:custGeom>
            <a:avLst/>
            <a:gdLst/>
            <a:ahLst/>
            <a:cxnLst/>
            <a:rect l="l" t="t" r="r" b="b"/>
            <a:pathLst>
              <a:path w="2514600" h="2148840">
                <a:moveTo>
                  <a:pt x="2514600" y="6858"/>
                </a:moveTo>
                <a:lnTo>
                  <a:pt x="2507742" y="0"/>
                </a:lnTo>
                <a:lnTo>
                  <a:pt x="2404872" y="0"/>
                </a:lnTo>
                <a:lnTo>
                  <a:pt x="109728" y="0"/>
                </a:lnTo>
                <a:lnTo>
                  <a:pt x="6858" y="0"/>
                </a:lnTo>
                <a:lnTo>
                  <a:pt x="0" y="6858"/>
                </a:lnTo>
                <a:lnTo>
                  <a:pt x="0" y="15240"/>
                </a:lnTo>
                <a:lnTo>
                  <a:pt x="0" y="84582"/>
                </a:lnTo>
                <a:lnTo>
                  <a:pt x="4216" y="88811"/>
                </a:lnTo>
                <a:lnTo>
                  <a:pt x="0" y="109728"/>
                </a:lnTo>
                <a:lnTo>
                  <a:pt x="0" y="2039112"/>
                </a:lnTo>
                <a:lnTo>
                  <a:pt x="8623" y="2081822"/>
                </a:lnTo>
                <a:lnTo>
                  <a:pt x="32143" y="2116696"/>
                </a:lnTo>
                <a:lnTo>
                  <a:pt x="67017" y="2140216"/>
                </a:lnTo>
                <a:lnTo>
                  <a:pt x="109728" y="2148840"/>
                </a:lnTo>
                <a:lnTo>
                  <a:pt x="2404872" y="2148840"/>
                </a:lnTo>
                <a:lnTo>
                  <a:pt x="2447569" y="2140216"/>
                </a:lnTo>
                <a:lnTo>
                  <a:pt x="2482443" y="2116696"/>
                </a:lnTo>
                <a:lnTo>
                  <a:pt x="2505964" y="2081822"/>
                </a:lnTo>
                <a:lnTo>
                  <a:pt x="2514600" y="2039112"/>
                </a:lnTo>
                <a:lnTo>
                  <a:pt x="2514600" y="109728"/>
                </a:lnTo>
                <a:lnTo>
                  <a:pt x="2510358" y="88823"/>
                </a:lnTo>
                <a:lnTo>
                  <a:pt x="2514600" y="84582"/>
                </a:lnTo>
                <a:lnTo>
                  <a:pt x="2514600" y="6858"/>
                </a:lnTo>
                <a:close/>
              </a:path>
            </a:pathLst>
          </a:custGeom>
          <a:solidFill>
            <a:srgbClr val="F5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434709" y="2008758"/>
            <a:ext cx="1348105" cy="1076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30" b="1">
                <a:solidFill>
                  <a:srgbClr val="05B6D3"/>
                </a:solidFill>
                <a:latin typeface="Calibri"/>
                <a:cs typeface="Calibri"/>
              </a:rPr>
              <a:t>Real-</a:t>
            </a:r>
            <a:r>
              <a:rPr dirty="0" sz="2600" spc="-20" b="1">
                <a:solidFill>
                  <a:srgbClr val="05B6D3"/>
                </a:solidFill>
                <a:latin typeface="Calibri"/>
                <a:cs typeface="Calibri"/>
              </a:rPr>
              <a:t>time</a:t>
            </a:r>
            <a:endParaRPr sz="2600">
              <a:latin typeface="Calibri"/>
              <a:cs typeface="Calibri"/>
            </a:endParaRPr>
          </a:p>
          <a:p>
            <a:pPr marL="12700" marR="129539">
              <a:lnSpc>
                <a:spcPts val="1600"/>
              </a:lnSpc>
              <a:spcBef>
                <a:spcPts val="1995"/>
              </a:spcBef>
            </a:pPr>
            <a:r>
              <a:rPr dirty="0" sz="1400" b="1">
                <a:solidFill>
                  <a:srgbClr val="0E172A"/>
                </a:solidFill>
                <a:latin typeface="Calibri"/>
                <a:cs typeface="Calibri"/>
              </a:rPr>
              <a:t>Device</a:t>
            </a:r>
            <a:r>
              <a:rPr dirty="0" sz="1400" spc="-3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172A"/>
                </a:solidFill>
                <a:latin typeface="Calibri"/>
                <a:cs typeface="Calibri"/>
              </a:rPr>
              <a:t>&amp;</a:t>
            </a:r>
            <a:r>
              <a:rPr dirty="0" sz="1400" spc="-1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172A"/>
                </a:solidFill>
                <a:latin typeface="Calibri"/>
                <a:cs typeface="Calibri"/>
              </a:rPr>
              <a:t>Sensor </a:t>
            </a:r>
            <a:r>
              <a:rPr dirty="0" sz="1400" spc="-20" b="1">
                <a:solidFill>
                  <a:srgbClr val="0E172A"/>
                </a:solidFill>
                <a:latin typeface="Calibri"/>
                <a:cs typeface="Calibri"/>
              </a:rPr>
              <a:t>Sync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34709" y="3296767"/>
            <a:ext cx="1677670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Instant</a:t>
            </a:r>
            <a:r>
              <a:rPr dirty="0" sz="11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status</a:t>
            </a:r>
            <a:r>
              <a:rPr dirty="0" sz="11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updates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on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the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dashboard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15400" y="1737359"/>
            <a:ext cx="2514600" cy="2148840"/>
          </a:xfrm>
          <a:custGeom>
            <a:avLst/>
            <a:gdLst/>
            <a:ahLst/>
            <a:cxnLst/>
            <a:rect l="l" t="t" r="r" b="b"/>
            <a:pathLst>
              <a:path w="2514600" h="2148840">
                <a:moveTo>
                  <a:pt x="2514600" y="6858"/>
                </a:moveTo>
                <a:lnTo>
                  <a:pt x="2507742" y="0"/>
                </a:lnTo>
                <a:lnTo>
                  <a:pt x="2404872" y="0"/>
                </a:lnTo>
                <a:lnTo>
                  <a:pt x="109728" y="0"/>
                </a:lnTo>
                <a:lnTo>
                  <a:pt x="6858" y="0"/>
                </a:lnTo>
                <a:lnTo>
                  <a:pt x="0" y="6858"/>
                </a:lnTo>
                <a:lnTo>
                  <a:pt x="0" y="15240"/>
                </a:lnTo>
                <a:lnTo>
                  <a:pt x="0" y="84582"/>
                </a:lnTo>
                <a:lnTo>
                  <a:pt x="4216" y="88811"/>
                </a:lnTo>
                <a:lnTo>
                  <a:pt x="0" y="109728"/>
                </a:lnTo>
                <a:lnTo>
                  <a:pt x="0" y="2039112"/>
                </a:lnTo>
                <a:lnTo>
                  <a:pt x="8623" y="2081822"/>
                </a:lnTo>
                <a:lnTo>
                  <a:pt x="32143" y="2116696"/>
                </a:lnTo>
                <a:lnTo>
                  <a:pt x="67017" y="2140216"/>
                </a:lnTo>
                <a:lnTo>
                  <a:pt x="109728" y="2148840"/>
                </a:lnTo>
                <a:lnTo>
                  <a:pt x="2404872" y="2148840"/>
                </a:lnTo>
                <a:lnTo>
                  <a:pt x="2447569" y="2140216"/>
                </a:lnTo>
                <a:lnTo>
                  <a:pt x="2482443" y="2116696"/>
                </a:lnTo>
                <a:lnTo>
                  <a:pt x="2505964" y="2081822"/>
                </a:lnTo>
                <a:lnTo>
                  <a:pt x="2514600" y="2039112"/>
                </a:lnTo>
                <a:lnTo>
                  <a:pt x="2514600" y="109728"/>
                </a:lnTo>
                <a:lnTo>
                  <a:pt x="2510358" y="88823"/>
                </a:lnTo>
                <a:lnTo>
                  <a:pt x="2514600" y="84582"/>
                </a:lnTo>
                <a:lnTo>
                  <a:pt x="2514600" y="6858"/>
                </a:lnTo>
                <a:close/>
              </a:path>
            </a:pathLst>
          </a:custGeom>
          <a:solidFill>
            <a:srgbClr val="F5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224009" y="2008758"/>
            <a:ext cx="944244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 b="1">
                <a:solidFill>
                  <a:srgbClr val="7B39EC"/>
                </a:solidFill>
                <a:latin typeface="Calibri"/>
                <a:cs typeface="Calibri"/>
              </a:rPr>
              <a:t>Secure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24009" y="2745486"/>
            <a:ext cx="10922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E172A"/>
                </a:solidFill>
                <a:latin typeface="Calibri"/>
                <a:cs typeface="Calibri"/>
              </a:rPr>
              <a:t>IAM</a:t>
            </a:r>
            <a:r>
              <a:rPr dirty="0" sz="1400" spc="-1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172A"/>
                </a:solidFill>
                <a:latin typeface="Calibri"/>
                <a:cs typeface="Calibri"/>
              </a:rPr>
              <a:t>by</a:t>
            </a:r>
            <a:r>
              <a:rPr dirty="0" sz="1400" spc="-1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172A"/>
                </a:solidFill>
                <a:latin typeface="Calibri"/>
                <a:cs typeface="Calibri"/>
              </a:rPr>
              <a:t>Design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24009" y="3296767"/>
            <a:ext cx="1768475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Least-privilege</a:t>
            </a:r>
            <a:r>
              <a:rPr dirty="0" sz="11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access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on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every service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8640" y="4160520"/>
            <a:ext cx="10881360" cy="1280160"/>
          </a:xfrm>
          <a:custGeom>
            <a:avLst/>
            <a:gdLst/>
            <a:ahLst/>
            <a:cxnLst/>
            <a:rect l="l" t="t" r="r" b="b"/>
            <a:pathLst>
              <a:path w="10881360" h="1280160">
                <a:moveTo>
                  <a:pt x="10771632" y="0"/>
                </a:moveTo>
                <a:lnTo>
                  <a:pt x="109715" y="0"/>
                </a:lnTo>
                <a:lnTo>
                  <a:pt x="67010" y="8626"/>
                </a:lnTo>
                <a:lnTo>
                  <a:pt x="32135" y="32146"/>
                </a:lnTo>
                <a:lnTo>
                  <a:pt x="8622" y="67026"/>
                </a:lnTo>
                <a:lnTo>
                  <a:pt x="0" y="109727"/>
                </a:lnTo>
                <a:lnTo>
                  <a:pt x="0" y="1170431"/>
                </a:lnTo>
                <a:lnTo>
                  <a:pt x="8622" y="1213133"/>
                </a:lnTo>
                <a:lnTo>
                  <a:pt x="32135" y="1248013"/>
                </a:lnTo>
                <a:lnTo>
                  <a:pt x="67010" y="1271533"/>
                </a:lnTo>
                <a:lnTo>
                  <a:pt x="109715" y="1280159"/>
                </a:lnTo>
                <a:lnTo>
                  <a:pt x="10771632" y="1280159"/>
                </a:lnTo>
                <a:lnTo>
                  <a:pt x="10814333" y="1271533"/>
                </a:lnTo>
                <a:lnTo>
                  <a:pt x="10849213" y="1248013"/>
                </a:lnTo>
                <a:lnTo>
                  <a:pt x="10872733" y="1213133"/>
                </a:lnTo>
                <a:lnTo>
                  <a:pt x="10881360" y="1170431"/>
                </a:lnTo>
                <a:lnTo>
                  <a:pt x="10881360" y="109727"/>
                </a:lnTo>
                <a:lnTo>
                  <a:pt x="10872733" y="67026"/>
                </a:lnTo>
                <a:lnTo>
                  <a:pt x="10849213" y="32146"/>
                </a:lnTo>
                <a:lnTo>
                  <a:pt x="10814333" y="8626"/>
                </a:lnTo>
                <a:lnTo>
                  <a:pt x="10771632" y="0"/>
                </a:lnTo>
                <a:close/>
              </a:path>
            </a:pathLst>
          </a:custGeom>
          <a:solidFill>
            <a:srgbClr val="3A0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93139" y="4515155"/>
            <a:ext cx="9173210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4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handled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repeated</a:t>
            </a:r>
            <a:r>
              <a:rPr dirty="0" sz="14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dirty="0" sz="14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toggles,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sensor</a:t>
            </a:r>
            <a:r>
              <a:rPr dirty="0" sz="14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updates,</a:t>
            </a:r>
            <a:r>
              <a:rPr dirty="0" sz="14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40">
                <a:solidFill>
                  <a:srgbClr val="FFFFFF"/>
                </a:solidFill>
                <a:latin typeface="Calibri"/>
                <a:cs typeface="Calibri"/>
              </a:rPr>
              <a:t>gas-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dirty="0" sz="14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alerts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dirty="0" sz="145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downtime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4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confirming</a:t>
            </a:r>
            <a:r>
              <a:rPr dirty="0" sz="14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dirty="0" sz="14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4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dirty="0" sz="14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ready</a:t>
            </a:r>
            <a:r>
              <a:rPr dirty="0" sz="14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alibri"/>
                <a:cs typeface="Calibri"/>
              </a:rPr>
              <a:t>use.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54482"/>
            <a:ext cx="2366010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05B6D3"/>
                </a:solidFill>
              </a:rPr>
              <a:t>F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U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T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U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R</a:t>
            </a:r>
            <a:r>
              <a:rPr dirty="0" sz="1400" spc="-125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E</a:t>
            </a:r>
            <a:r>
              <a:rPr dirty="0" sz="1400" spc="36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N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H</a:t>
            </a:r>
            <a:r>
              <a:rPr dirty="0" sz="1400" spc="-11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A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N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C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14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M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E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 spc="-10">
                <a:solidFill>
                  <a:srgbClr val="05B6D3"/>
                </a:solidFill>
              </a:rPr>
              <a:t>N</a:t>
            </a:r>
            <a:r>
              <a:rPr dirty="0" sz="1400" spc="-120">
                <a:solidFill>
                  <a:srgbClr val="05B6D3"/>
                </a:solidFill>
              </a:rPr>
              <a:t> </a:t>
            </a:r>
            <a:r>
              <a:rPr dirty="0" sz="1400">
                <a:solidFill>
                  <a:srgbClr val="05B6D3"/>
                </a:solidFill>
              </a:rPr>
              <a:t>T</a:t>
            </a:r>
            <a:r>
              <a:rPr dirty="0" sz="1400" spc="-125">
                <a:solidFill>
                  <a:srgbClr val="05B6D3"/>
                </a:solidFill>
              </a:rPr>
              <a:t> </a:t>
            </a:r>
            <a:r>
              <a:rPr dirty="0" sz="1400" spc="-50">
                <a:solidFill>
                  <a:srgbClr val="05B6D3"/>
                </a:solidFill>
              </a:rPr>
              <a:t>S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627380" y="918717"/>
            <a:ext cx="35248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Where</a:t>
            </a:r>
            <a:r>
              <a:rPr dirty="0" sz="3000" spc="-8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This</a:t>
            </a:r>
            <a:r>
              <a:rPr dirty="0" sz="3000" spc="-8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0E172A"/>
                </a:solidFill>
                <a:latin typeface="Calibri"/>
                <a:cs typeface="Calibri"/>
              </a:rPr>
              <a:t>Goes</a:t>
            </a:r>
            <a:r>
              <a:rPr dirty="0" sz="3000" spc="-8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0E172A"/>
                </a:solidFill>
                <a:latin typeface="Calibri"/>
                <a:cs typeface="Calibri"/>
              </a:rPr>
              <a:t>Next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737360"/>
            <a:ext cx="3444240" cy="1783080"/>
            <a:chOff x="548640" y="1737360"/>
            <a:chExt cx="3444240" cy="1783080"/>
          </a:xfrm>
        </p:grpSpPr>
        <p:sp>
          <p:nvSpPr>
            <p:cNvPr id="5" name="object 5"/>
            <p:cNvSpPr/>
            <p:nvPr/>
          </p:nvSpPr>
          <p:spPr>
            <a:xfrm>
              <a:off x="548640" y="173736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84" y="1727251"/>
                  </a:lnTo>
                  <a:lnTo>
                    <a:pt x="26779" y="1756314"/>
                  </a:lnTo>
                  <a:lnTo>
                    <a:pt x="55844" y="1775900"/>
                  </a:lnTo>
                  <a:lnTo>
                    <a:pt x="91439" y="1783079"/>
                  </a:lnTo>
                  <a:lnTo>
                    <a:pt x="3352800" y="1783079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39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assets/icons/mobile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806" y="2126564"/>
              <a:ext cx="245795" cy="24579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2689097"/>
            <a:ext cx="1682114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Mobile</a:t>
            </a:r>
            <a:r>
              <a:rPr dirty="0" sz="1350" spc="-5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App</a:t>
            </a:r>
            <a:r>
              <a:rPr dirty="0" sz="1350" spc="-2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Integration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411" y="3045307"/>
            <a:ext cx="2326640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Native</a:t>
            </a:r>
            <a:r>
              <a:rPr dirty="0" sz="1100" spc="-3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control</a:t>
            </a:r>
            <a:r>
              <a:rPr dirty="0" sz="11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companion</a:t>
            </a:r>
            <a:r>
              <a:rPr dirty="0" sz="11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mobile application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67200" y="1737360"/>
            <a:ext cx="3444240" cy="1783080"/>
            <a:chOff x="4267200" y="1737360"/>
            <a:chExt cx="3444240" cy="1783080"/>
          </a:xfrm>
        </p:grpSpPr>
        <p:sp>
          <p:nvSpPr>
            <p:cNvPr id="10" name="object 10"/>
            <p:cNvSpPr/>
            <p:nvPr/>
          </p:nvSpPr>
          <p:spPr>
            <a:xfrm>
              <a:off x="4267200" y="173736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39" y="1783079"/>
                  </a:lnTo>
                  <a:lnTo>
                    <a:pt x="3352800" y="1783079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39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assets/icons/micro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6327" y="2126564"/>
              <a:ext cx="245795" cy="24579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02607" y="2689097"/>
            <a:ext cx="1701164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Voice</a:t>
            </a:r>
            <a:r>
              <a:rPr dirty="0" sz="1350" spc="-6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Assistant</a:t>
            </a:r>
            <a:r>
              <a:rPr dirty="0" sz="1350" spc="-6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Support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2607" y="3142869"/>
            <a:ext cx="226949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Hands-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free</a:t>
            </a:r>
            <a:r>
              <a:rPr dirty="0" sz="11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control</a:t>
            </a:r>
            <a:r>
              <a:rPr dirty="0" sz="11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via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voice</a:t>
            </a:r>
            <a:r>
              <a:rPr dirty="0" sz="110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commands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85759" y="1737360"/>
            <a:ext cx="3444240" cy="1783080"/>
            <a:chOff x="7985759" y="1737360"/>
            <a:chExt cx="3444240" cy="1783080"/>
          </a:xfrm>
        </p:grpSpPr>
        <p:sp>
          <p:nvSpPr>
            <p:cNvPr id="15" name="object 15"/>
            <p:cNvSpPr/>
            <p:nvPr/>
          </p:nvSpPr>
          <p:spPr>
            <a:xfrm>
              <a:off x="7985759" y="173736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40" y="1783079"/>
                  </a:lnTo>
                  <a:lnTo>
                    <a:pt x="3352800" y="1783079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39"/>
                  </a:lnTo>
                  <a:lnTo>
                    <a:pt x="3444240" y="91439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assets/icons/brain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4887" y="2126564"/>
              <a:ext cx="245795" cy="24579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321802" y="2689097"/>
            <a:ext cx="21424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AI-</a:t>
            </a: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Based</a:t>
            </a:r>
            <a:r>
              <a:rPr dirty="0" sz="1350" spc="-5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Energy</a:t>
            </a:r>
            <a:r>
              <a:rPr dirty="0" sz="1350" spc="-5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Optimization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21802" y="3045307"/>
            <a:ext cx="2320290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Smarter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 automation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using usage</a:t>
            </a:r>
            <a:r>
              <a:rPr dirty="0" sz="11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pattern analysis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8640" y="3749040"/>
            <a:ext cx="3444240" cy="1783080"/>
            <a:chOff x="548640" y="3749040"/>
            <a:chExt cx="3444240" cy="1783080"/>
          </a:xfrm>
        </p:grpSpPr>
        <p:sp>
          <p:nvSpPr>
            <p:cNvPr id="20" name="object 20"/>
            <p:cNvSpPr/>
            <p:nvPr/>
          </p:nvSpPr>
          <p:spPr>
            <a:xfrm>
              <a:off x="548640" y="374904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40"/>
                  </a:lnTo>
                  <a:lnTo>
                    <a:pt x="0" y="1691640"/>
                  </a:lnTo>
                  <a:lnTo>
                    <a:pt x="7184" y="1727251"/>
                  </a:lnTo>
                  <a:lnTo>
                    <a:pt x="26779" y="1756314"/>
                  </a:lnTo>
                  <a:lnTo>
                    <a:pt x="55844" y="1775900"/>
                  </a:lnTo>
                  <a:lnTo>
                    <a:pt x="91439" y="1783080"/>
                  </a:lnTo>
                  <a:lnTo>
                    <a:pt x="3352800" y="1783080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40"/>
                  </a:lnTo>
                  <a:lnTo>
                    <a:pt x="3444240" y="91440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assets/icons/camera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806" y="4138244"/>
              <a:ext cx="245795" cy="24579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83411" y="4701032"/>
            <a:ext cx="17132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Smart</a:t>
            </a:r>
            <a:r>
              <a:rPr dirty="0" sz="1350" spc="-3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Security</a:t>
            </a:r>
            <a:r>
              <a:rPr dirty="0" sz="1350" spc="-4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Cameras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3411" y="5154929"/>
            <a:ext cx="185356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Integrated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live</a:t>
            </a:r>
            <a:r>
              <a:rPr dirty="0" sz="1100" spc="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video</a:t>
            </a:r>
            <a:r>
              <a:rPr dirty="0" sz="1100" spc="-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monitoring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67200" y="3749040"/>
            <a:ext cx="3444240" cy="1783080"/>
            <a:chOff x="4267200" y="3749040"/>
            <a:chExt cx="3444240" cy="1783080"/>
          </a:xfrm>
        </p:grpSpPr>
        <p:sp>
          <p:nvSpPr>
            <p:cNvPr id="25" name="object 25"/>
            <p:cNvSpPr/>
            <p:nvPr/>
          </p:nvSpPr>
          <p:spPr>
            <a:xfrm>
              <a:off x="4267200" y="374904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1691640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39" y="1783080"/>
                  </a:lnTo>
                  <a:lnTo>
                    <a:pt x="3352800" y="1783080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40"/>
                  </a:lnTo>
                  <a:lnTo>
                    <a:pt x="3444240" y="91440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assets/icons/wrench_FFFFFF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6327" y="4138244"/>
              <a:ext cx="245795" cy="24579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602607" y="4701032"/>
            <a:ext cx="171132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Predictive</a:t>
            </a:r>
            <a:r>
              <a:rPr dirty="0" sz="1350" spc="-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Maintenance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02607" y="5154929"/>
            <a:ext cx="23291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Analytics</a:t>
            </a:r>
            <a:r>
              <a:rPr dirty="0" sz="1100" spc="-4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flag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issues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before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they</a:t>
            </a:r>
            <a:r>
              <a:rPr dirty="0" sz="110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Calibri"/>
                <a:cs typeface="Calibri"/>
              </a:rPr>
              <a:t>occur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985759" y="3749040"/>
            <a:ext cx="3444240" cy="1783080"/>
            <a:chOff x="7985759" y="3749040"/>
            <a:chExt cx="3444240" cy="1783080"/>
          </a:xfrm>
        </p:grpSpPr>
        <p:sp>
          <p:nvSpPr>
            <p:cNvPr id="30" name="object 30"/>
            <p:cNvSpPr/>
            <p:nvPr/>
          </p:nvSpPr>
          <p:spPr>
            <a:xfrm>
              <a:off x="7985759" y="3749040"/>
              <a:ext cx="3444240" cy="1783080"/>
            </a:xfrm>
            <a:custGeom>
              <a:avLst/>
              <a:gdLst/>
              <a:ahLst/>
              <a:cxnLst/>
              <a:rect l="l" t="t" r="r" b="b"/>
              <a:pathLst>
                <a:path w="3444240" h="1783079">
                  <a:moveTo>
                    <a:pt x="335280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1691640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40" y="1783080"/>
                  </a:lnTo>
                  <a:lnTo>
                    <a:pt x="3352800" y="1783080"/>
                  </a:lnTo>
                  <a:lnTo>
                    <a:pt x="3388411" y="1775900"/>
                  </a:lnTo>
                  <a:lnTo>
                    <a:pt x="3417474" y="1756314"/>
                  </a:lnTo>
                  <a:lnTo>
                    <a:pt x="3437060" y="1727251"/>
                  </a:lnTo>
                  <a:lnTo>
                    <a:pt x="3444240" y="1691640"/>
                  </a:lnTo>
                  <a:lnTo>
                    <a:pt x="3444240" y="91440"/>
                  </a:lnTo>
                  <a:lnTo>
                    <a:pt x="3437060" y="55828"/>
                  </a:lnTo>
                  <a:lnTo>
                    <a:pt x="3417474" y="26765"/>
                  </a:lnTo>
                  <a:lnTo>
                    <a:pt x="3388411" y="7179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assets/icons/wifi_FFFFFF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74887" y="4138244"/>
              <a:ext cx="245795" cy="24579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321802" y="4701032"/>
            <a:ext cx="203581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Real</a:t>
            </a:r>
            <a:r>
              <a:rPr dirty="0" sz="1350" spc="-5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IoT</a:t>
            </a:r>
            <a:r>
              <a:rPr dirty="0" sz="1350" spc="-4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E172A"/>
                </a:solidFill>
                <a:latin typeface="Calibri"/>
                <a:cs typeface="Calibri"/>
              </a:rPr>
              <a:t>Device</a:t>
            </a:r>
            <a:r>
              <a:rPr dirty="0" sz="1350" spc="-4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E172A"/>
                </a:solidFill>
                <a:latin typeface="Calibri"/>
                <a:cs typeface="Calibri"/>
              </a:rPr>
              <a:t>Connectivity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8321802" y="5154929"/>
            <a:ext cx="23228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Extending</a:t>
            </a:r>
            <a:r>
              <a:rPr dirty="0" sz="1100" spc="-4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beyond</a:t>
            </a:r>
            <a:r>
              <a:rPr dirty="0" sz="11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simulated</a:t>
            </a:r>
            <a:r>
              <a:rPr dirty="0" sz="1100" spc="-5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48A"/>
                </a:solidFill>
                <a:latin typeface="Calibri"/>
                <a:cs typeface="Calibri"/>
              </a:rPr>
              <a:t>sensor</a:t>
            </a:r>
            <a:r>
              <a:rPr dirty="0" sz="110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63748A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A0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700" y="1598421"/>
            <a:ext cx="13138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87316"/>
                </a:solidFill>
                <a:latin typeface="Calibri"/>
                <a:cs typeface="Calibri"/>
              </a:rPr>
              <a:t>C</a:t>
            </a:r>
            <a:r>
              <a:rPr dirty="0" sz="1500" spc="-14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87316"/>
                </a:solidFill>
                <a:latin typeface="Calibri"/>
                <a:cs typeface="Calibri"/>
              </a:rPr>
              <a:t>O</a:t>
            </a:r>
            <a:r>
              <a:rPr dirty="0" sz="1500" spc="-135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87316"/>
                </a:solidFill>
                <a:latin typeface="Calibri"/>
                <a:cs typeface="Calibri"/>
              </a:rPr>
              <a:t>N</a:t>
            </a:r>
            <a:r>
              <a:rPr dirty="0" sz="1500" spc="-14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87316"/>
                </a:solidFill>
                <a:latin typeface="Calibri"/>
                <a:cs typeface="Calibri"/>
              </a:rPr>
              <a:t>C</a:t>
            </a:r>
            <a:r>
              <a:rPr dirty="0" sz="1500" spc="-14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87316"/>
                </a:solidFill>
                <a:latin typeface="Calibri"/>
                <a:cs typeface="Calibri"/>
              </a:rPr>
              <a:t>L</a:t>
            </a:r>
            <a:r>
              <a:rPr dirty="0" sz="1500" spc="-135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87316"/>
                </a:solidFill>
                <a:latin typeface="Calibri"/>
                <a:cs typeface="Calibri"/>
              </a:rPr>
              <a:t>U</a:t>
            </a:r>
            <a:r>
              <a:rPr dirty="0" sz="1500" spc="-13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87316"/>
                </a:solidFill>
                <a:latin typeface="Calibri"/>
                <a:cs typeface="Calibri"/>
              </a:rPr>
              <a:t>S</a:t>
            </a:r>
            <a:r>
              <a:rPr dirty="0" sz="1500" spc="-14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87316"/>
                </a:solidFill>
                <a:latin typeface="Calibri"/>
                <a:cs typeface="Calibri"/>
              </a:rPr>
              <a:t>I</a:t>
            </a:r>
            <a:r>
              <a:rPr dirty="0" sz="1500" spc="-145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87316"/>
                </a:solidFill>
                <a:latin typeface="Calibri"/>
                <a:cs typeface="Calibri"/>
              </a:rPr>
              <a:t>O</a:t>
            </a:r>
            <a:r>
              <a:rPr dirty="0" sz="1500" spc="-130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1500" spc="-50" b="1">
                <a:solidFill>
                  <a:srgbClr val="F87316"/>
                </a:solidFill>
                <a:latin typeface="Calibri"/>
                <a:cs typeface="Calibri"/>
              </a:rPr>
              <a:t>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01700" y="2094992"/>
            <a:ext cx="4502150" cy="1050925"/>
          </a:xfrm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ts val="4000"/>
              </a:lnSpc>
              <a:spcBef>
                <a:spcPts val="270"/>
              </a:spcBef>
            </a:pPr>
            <a:r>
              <a:rPr dirty="0" sz="3400">
                <a:solidFill>
                  <a:srgbClr val="FFFFFF"/>
                </a:solidFill>
              </a:rPr>
              <a:t>A</a:t>
            </a:r>
            <a:r>
              <a:rPr dirty="0" sz="3400" spc="-15">
                <a:solidFill>
                  <a:srgbClr val="FFFFFF"/>
                </a:solidFill>
              </a:rPr>
              <a:t> </a:t>
            </a:r>
            <a:r>
              <a:rPr dirty="0" sz="3400" spc="-25">
                <a:solidFill>
                  <a:srgbClr val="FFFFFF"/>
                </a:solidFill>
              </a:rPr>
              <a:t>Production-</a:t>
            </a:r>
            <a:r>
              <a:rPr dirty="0" sz="3400">
                <a:solidFill>
                  <a:srgbClr val="FFFFFF"/>
                </a:solidFill>
              </a:rPr>
              <a:t>Style</a:t>
            </a:r>
            <a:r>
              <a:rPr dirty="0" sz="3400" spc="-5">
                <a:solidFill>
                  <a:srgbClr val="FFFFFF"/>
                </a:solidFill>
              </a:rPr>
              <a:t> </a:t>
            </a:r>
            <a:r>
              <a:rPr dirty="0" sz="3400" spc="-10">
                <a:solidFill>
                  <a:srgbClr val="FFFFFF"/>
                </a:solidFill>
              </a:rPr>
              <a:t>Cloud </a:t>
            </a:r>
            <a:r>
              <a:rPr dirty="0" sz="3400" spc="-20">
                <a:solidFill>
                  <a:srgbClr val="FFFFFF"/>
                </a:solidFill>
              </a:rPr>
              <a:t>Architecture </a:t>
            </a:r>
            <a:r>
              <a:rPr dirty="0" sz="3400">
                <a:solidFill>
                  <a:srgbClr val="FFFFFF"/>
                </a:solidFill>
              </a:rPr>
              <a:t>on</a:t>
            </a:r>
            <a:r>
              <a:rPr dirty="0" sz="3400" spc="-60">
                <a:solidFill>
                  <a:srgbClr val="FFFFFF"/>
                </a:solidFill>
              </a:rPr>
              <a:t> </a:t>
            </a:r>
            <a:r>
              <a:rPr dirty="0" sz="3400" spc="-25">
                <a:solidFill>
                  <a:srgbClr val="FFFFFF"/>
                </a:solidFill>
              </a:rPr>
              <a:t>AWS</a:t>
            </a:r>
            <a:endParaRPr sz="3400"/>
          </a:p>
        </p:txBody>
      </p:sp>
      <p:sp>
        <p:nvSpPr>
          <p:cNvPr id="5" name="object 5"/>
          <p:cNvSpPr txBox="1"/>
          <p:nvPr/>
        </p:nvSpPr>
        <p:spPr>
          <a:xfrm>
            <a:off x="901700" y="3662349"/>
            <a:ext cx="8364220" cy="862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299"/>
              </a:lnSpc>
              <a:spcBef>
                <a:spcPts val="100"/>
              </a:spcBef>
            </a:pP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The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Cloud-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Based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Smart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Home</a:t>
            </a:r>
            <a:r>
              <a:rPr dirty="0" sz="1450" spc="-2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Monitoring</a:t>
            </a:r>
            <a:r>
              <a:rPr dirty="0" sz="145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&amp;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Automation</a:t>
            </a:r>
            <a:r>
              <a:rPr dirty="0" sz="145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Platform</a:t>
            </a:r>
            <a:r>
              <a:rPr dirty="0" sz="145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demonstrates</a:t>
            </a:r>
            <a:r>
              <a:rPr dirty="0" sz="1450" spc="-6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serverless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compute,</a:t>
            </a:r>
            <a:r>
              <a:rPr dirty="0" sz="145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structured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data</a:t>
            </a:r>
            <a:r>
              <a:rPr dirty="0" sz="145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storage,</a:t>
            </a:r>
            <a:r>
              <a:rPr dirty="0" sz="145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secure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REST</a:t>
            </a:r>
            <a:r>
              <a:rPr dirty="0" sz="1450" spc="-3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API</a:t>
            </a:r>
            <a:r>
              <a:rPr dirty="0" sz="145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design,</a:t>
            </a:r>
            <a:r>
              <a:rPr dirty="0" sz="145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operational</a:t>
            </a:r>
            <a:r>
              <a:rPr dirty="0" sz="1450" spc="-5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monitoring</a:t>
            </a:r>
            <a:r>
              <a:rPr dirty="0" sz="1450" spc="-3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—</a:t>
            </a:r>
            <a:r>
              <a:rPr dirty="0" sz="1450" spc="-3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core</a:t>
            </a:r>
            <a:r>
              <a:rPr dirty="0" sz="145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skills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for</a:t>
            </a:r>
            <a:r>
              <a:rPr dirty="0" sz="145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cloud</a:t>
            </a:r>
            <a:r>
              <a:rPr dirty="0" sz="145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and</a:t>
            </a:r>
            <a:r>
              <a:rPr dirty="0" sz="145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DevOps development,</a:t>
            </a:r>
            <a:r>
              <a:rPr dirty="0" sz="145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with</a:t>
            </a:r>
            <a:r>
              <a:rPr dirty="0" sz="1450" spc="-4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room</a:t>
            </a:r>
            <a:r>
              <a:rPr dirty="0" sz="145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to</a:t>
            </a:r>
            <a:r>
              <a:rPr dirty="0" sz="145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grow</a:t>
            </a:r>
            <a:r>
              <a:rPr dirty="0" sz="145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into</a:t>
            </a:r>
            <a:r>
              <a:rPr dirty="0" sz="1450" spc="-3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real</a:t>
            </a:r>
            <a:r>
              <a:rPr dirty="0" sz="1450" spc="-2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IoT</a:t>
            </a:r>
            <a:r>
              <a:rPr dirty="0" sz="1450" spc="-3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connectivity,</a:t>
            </a:r>
            <a:r>
              <a:rPr dirty="0" sz="1450" spc="-5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mobile</a:t>
            </a:r>
            <a:r>
              <a:rPr dirty="0" sz="1450" spc="-2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support,</a:t>
            </a:r>
            <a:r>
              <a:rPr dirty="0" sz="1450" spc="-5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and</a:t>
            </a:r>
            <a:r>
              <a:rPr dirty="0" sz="1450" spc="-40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DDD5FD"/>
                </a:solidFill>
                <a:latin typeface="Calibri"/>
                <a:cs typeface="Calibri"/>
              </a:rPr>
              <a:t>AI-based</a:t>
            </a:r>
            <a:r>
              <a:rPr dirty="0" sz="1450" spc="-15">
                <a:solidFill>
                  <a:srgbClr val="DDD5F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DDD5FD"/>
                </a:solidFill>
                <a:latin typeface="Calibri"/>
                <a:cs typeface="Calibri"/>
              </a:rPr>
              <a:t>automation.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5392623"/>
            <a:ext cx="144335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87316"/>
                </a:solidFill>
                <a:latin typeface="Calibri"/>
                <a:cs typeface="Calibri"/>
              </a:rPr>
              <a:t>Thank</a:t>
            </a:r>
            <a:r>
              <a:rPr dirty="0" sz="2600" spc="-75" b="1">
                <a:solidFill>
                  <a:srgbClr val="F87316"/>
                </a:solidFill>
                <a:latin typeface="Calibri"/>
                <a:cs typeface="Calibri"/>
              </a:rPr>
              <a:t> </a:t>
            </a:r>
            <a:r>
              <a:rPr dirty="0" sz="2600" spc="-35" b="1">
                <a:solidFill>
                  <a:srgbClr val="F87316"/>
                </a:solidFill>
                <a:latin typeface="Calibri"/>
                <a:cs typeface="Calibri"/>
              </a:rPr>
              <a:t>You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2026-07-18T13:38:26Z</dcterms:created>
  <dcterms:modified xsi:type="dcterms:W3CDTF">2026-07-18T13:38:26Z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2026-07-18T00:00:00Z</vt:filetime>
  </property>
  <property fmtid="{D5CDD505-2E9C-101B-9397-08002B2CF9AE}" pid="6" name="Producer">
    <vt:lpwstr>Microsoft® PowerPoint® 2021</vt:lpwstr>
  </property>
</Properties>
</file>